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F2A15"/>
    <a:srgbClr val="0A03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5" autoAdjust="0"/>
    <p:restoredTop sz="94660"/>
  </p:normalViewPr>
  <p:slideViewPr>
    <p:cSldViewPr snapToGrid="0">
      <p:cViewPr>
        <p:scale>
          <a:sx n="75" d="100"/>
          <a:sy n="75" d="100"/>
        </p:scale>
        <p:origin x="1134"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0C1074B-A616-4BB0-B71A-87BF9F7CBBD7}" type="doc">
      <dgm:prSet loTypeId="urn:microsoft.com/office/officeart/2005/8/layout/hList6" loCatId="list" qsTypeId="urn:microsoft.com/office/officeart/2005/8/quickstyle/3d3" qsCatId="3D" csTypeId="urn:microsoft.com/office/officeart/2005/8/colors/accent1_3" csCatId="accent1"/>
      <dgm:spPr/>
      <dgm:t>
        <a:bodyPr/>
        <a:lstStyle/>
        <a:p>
          <a:endParaRPr lang="en-US"/>
        </a:p>
      </dgm:t>
    </dgm:pt>
    <dgm:pt modelId="{73A7F1D6-8631-4338-9F38-EFAC23B75A8B}">
      <dgm:prSet/>
      <dgm:spPr/>
      <dgm:t>
        <a:bodyPr/>
        <a:lstStyle/>
        <a:p>
          <a:r>
            <a:rPr lang="en-US" dirty="0">
              <a:solidFill>
                <a:schemeClr val="tx2">
                  <a:lumMod val="10000"/>
                  <a:lumOff val="90000"/>
                </a:schemeClr>
              </a:solidFill>
            </a:rPr>
            <a:t>Critical Delivery Failures: Analysis revealed a staggering 36,048 orders failing to meet their scheduled delivery dates, directly impacting customer trust and brand reputation.</a:t>
          </a:r>
        </a:p>
      </dgm:t>
    </dgm:pt>
    <dgm:pt modelId="{C865394B-BE12-4F64-8C17-F663A988A1CA}" type="parTrans" cxnId="{6F35E0F9-BDD4-4D4E-8EEA-56716AE59913}">
      <dgm:prSet/>
      <dgm:spPr/>
      <dgm:t>
        <a:bodyPr/>
        <a:lstStyle/>
        <a:p>
          <a:endParaRPr lang="en-US"/>
        </a:p>
      </dgm:t>
    </dgm:pt>
    <dgm:pt modelId="{5951ED9F-5C0C-4035-A4F4-040097CE67D4}" type="sibTrans" cxnId="{6F35E0F9-BDD4-4D4E-8EEA-56716AE59913}">
      <dgm:prSet/>
      <dgm:spPr/>
      <dgm:t>
        <a:bodyPr/>
        <a:lstStyle/>
        <a:p>
          <a:endParaRPr lang="en-US"/>
        </a:p>
      </dgm:t>
    </dgm:pt>
    <dgm:pt modelId="{8CE7E340-AABD-4F12-9680-57875EDD2688}">
      <dgm:prSet/>
      <dgm:spPr/>
      <dgm:t>
        <a:bodyPr/>
        <a:lstStyle/>
        <a:p>
          <a:r>
            <a:rPr lang="en-US" dirty="0">
              <a:solidFill>
                <a:schemeClr val="bg1"/>
              </a:solidFill>
            </a:rPr>
            <a:t>Severe Financial Impact (Revenue at Risk): These logistical bottlenecks have trapped approximately $20.1 Million in delayed transit. This represents a significant amount of capital tied up due to operational inefficiencies.</a:t>
          </a:r>
        </a:p>
      </dgm:t>
    </dgm:pt>
    <dgm:pt modelId="{1BB00E4E-08F4-4945-A6D9-9DA3F95177FD}" type="parTrans" cxnId="{500F8C8C-A9AE-4E53-BF87-AC182A2DD2C8}">
      <dgm:prSet/>
      <dgm:spPr/>
      <dgm:t>
        <a:bodyPr/>
        <a:lstStyle/>
        <a:p>
          <a:endParaRPr lang="en-US"/>
        </a:p>
      </dgm:t>
    </dgm:pt>
    <dgm:pt modelId="{10B8DBF4-4697-4B1F-88FD-92D52D102CFB}" type="sibTrans" cxnId="{500F8C8C-A9AE-4E53-BF87-AC182A2DD2C8}">
      <dgm:prSet/>
      <dgm:spPr/>
      <dgm:t>
        <a:bodyPr/>
        <a:lstStyle/>
        <a:p>
          <a:endParaRPr lang="en-US"/>
        </a:p>
      </dgm:t>
    </dgm:pt>
    <dgm:pt modelId="{87A57F10-E93F-47B3-BBED-80B79E7D1897}">
      <dgm:prSet custT="1"/>
      <dgm:spPr/>
      <dgm:t>
        <a:bodyPr/>
        <a:lstStyle/>
        <a:p>
          <a:r>
            <a:rPr lang="en-US" sz="1600" dirty="0">
              <a:solidFill>
                <a:schemeClr val="tx2">
                  <a:lumMod val="90000"/>
                  <a:lumOff val="10000"/>
                </a:schemeClr>
              </a:solidFill>
            </a:rPr>
            <a:t>Customer Experience Degradation: The average delay duration across all delayed shipments is 1.62 days. In a competitive e-commerce landscape, this prolonged wait time significantly increases the risk of customer churn and negative reviews.</a:t>
          </a:r>
        </a:p>
      </dgm:t>
    </dgm:pt>
    <dgm:pt modelId="{8A84FF96-A84D-4C6A-8117-A3B3C72EE1E5}" type="parTrans" cxnId="{FFE2D852-BD07-48B9-82F4-BE55840C8424}">
      <dgm:prSet/>
      <dgm:spPr/>
      <dgm:t>
        <a:bodyPr/>
        <a:lstStyle/>
        <a:p>
          <a:endParaRPr lang="en-US"/>
        </a:p>
      </dgm:t>
    </dgm:pt>
    <dgm:pt modelId="{6A48ABC3-47C7-4A39-8A13-490A274901F6}" type="sibTrans" cxnId="{FFE2D852-BD07-48B9-82F4-BE55840C8424}">
      <dgm:prSet/>
      <dgm:spPr/>
      <dgm:t>
        <a:bodyPr/>
        <a:lstStyle/>
        <a:p>
          <a:endParaRPr lang="en-US"/>
        </a:p>
      </dgm:t>
    </dgm:pt>
    <dgm:pt modelId="{C689C5AF-FA59-4323-B3FE-94053CFEAD62}" type="pres">
      <dgm:prSet presAssocID="{10C1074B-A616-4BB0-B71A-87BF9F7CBBD7}" presName="Name0" presStyleCnt="0">
        <dgm:presLayoutVars>
          <dgm:dir/>
          <dgm:resizeHandles val="exact"/>
        </dgm:presLayoutVars>
      </dgm:prSet>
      <dgm:spPr/>
    </dgm:pt>
    <dgm:pt modelId="{BE9DDF76-C69C-4339-AE77-630E35283FCC}" type="pres">
      <dgm:prSet presAssocID="{73A7F1D6-8631-4338-9F38-EFAC23B75A8B}" presName="node" presStyleLbl="node1" presStyleIdx="0" presStyleCnt="3">
        <dgm:presLayoutVars>
          <dgm:bulletEnabled val="1"/>
        </dgm:presLayoutVars>
      </dgm:prSet>
      <dgm:spPr/>
    </dgm:pt>
    <dgm:pt modelId="{EDA2DC58-3FEA-4221-B3B1-8F11E8FAB2C9}" type="pres">
      <dgm:prSet presAssocID="{5951ED9F-5C0C-4035-A4F4-040097CE67D4}" presName="sibTrans" presStyleCnt="0"/>
      <dgm:spPr/>
    </dgm:pt>
    <dgm:pt modelId="{6730DAC0-0E43-46E2-88A1-5DC3044CDDE3}" type="pres">
      <dgm:prSet presAssocID="{8CE7E340-AABD-4F12-9680-57875EDD2688}" presName="node" presStyleLbl="node1" presStyleIdx="1" presStyleCnt="3">
        <dgm:presLayoutVars>
          <dgm:bulletEnabled val="1"/>
        </dgm:presLayoutVars>
      </dgm:prSet>
      <dgm:spPr/>
    </dgm:pt>
    <dgm:pt modelId="{5D155F0E-6818-4EAB-8D10-3B3CFF20A354}" type="pres">
      <dgm:prSet presAssocID="{10B8DBF4-4697-4B1F-88FD-92D52D102CFB}" presName="sibTrans" presStyleCnt="0"/>
      <dgm:spPr/>
    </dgm:pt>
    <dgm:pt modelId="{603873CE-AC82-4713-9549-34CE59B1DD46}" type="pres">
      <dgm:prSet presAssocID="{87A57F10-E93F-47B3-BBED-80B79E7D1897}" presName="node" presStyleLbl="node1" presStyleIdx="2" presStyleCnt="3">
        <dgm:presLayoutVars>
          <dgm:bulletEnabled val="1"/>
        </dgm:presLayoutVars>
      </dgm:prSet>
      <dgm:spPr/>
    </dgm:pt>
  </dgm:ptLst>
  <dgm:cxnLst>
    <dgm:cxn modelId="{FFE2D852-BD07-48B9-82F4-BE55840C8424}" srcId="{10C1074B-A616-4BB0-B71A-87BF9F7CBBD7}" destId="{87A57F10-E93F-47B3-BBED-80B79E7D1897}" srcOrd="2" destOrd="0" parTransId="{8A84FF96-A84D-4C6A-8117-A3B3C72EE1E5}" sibTransId="{6A48ABC3-47C7-4A39-8A13-490A274901F6}"/>
    <dgm:cxn modelId="{F5894057-A95E-420B-8CE3-3B8B4BCB366E}" type="presOf" srcId="{73A7F1D6-8631-4338-9F38-EFAC23B75A8B}" destId="{BE9DDF76-C69C-4339-AE77-630E35283FCC}" srcOrd="0" destOrd="0" presId="urn:microsoft.com/office/officeart/2005/8/layout/hList6"/>
    <dgm:cxn modelId="{01F2B858-099E-4D23-A74F-367DEC9FADF3}" type="presOf" srcId="{8CE7E340-AABD-4F12-9680-57875EDD2688}" destId="{6730DAC0-0E43-46E2-88A1-5DC3044CDDE3}" srcOrd="0" destOrd="0" presId="urn:microsoft.com/office/officeart/2005/8/layout/hList6"/>
    <dgm:cxn modelId="{FD1DDD7B-2DA3-44B9-8F21-CF4A7069FD49}" type="presOf" srcId="{87A57F10-E93F-47B3-BBED-80B79E7D1897}" destId="{603873CE-AC82-4713-9549-34CE59B1DD46}" srcOrd="0" destOrd="0" presId="urn:microsoft.com/office/officeart/2005/8/layout/hList6"/>
    <dgm:cxn modelId="{500F8C8C-A9AE-4E53-BF87-AC182A2DD2C8}" srcId="{10C1074B-A616-4BB0-B71A-87BF9F7CBBD7}" destId="{8CE7E340-AABD-4F12-9680-57875EDD2688}" srcOrd="1" destOrd="0" parTransId="{1BB00E4E-08F4-4945-A6D9-9DA3F95177FD}" sibTransId="{10B8DBF4-4697-4B1F-88FD-92D52D102CFB}"/>
    <dgm:cxn modelId="{338760AF-39CC-4215-A6BF-3B9B842888CC}" type="presOf" srcId="{10C1074B-A616-4BB0-B71A-87BF9F7CBBD7}" destId="{C689C5AF-FA59-4323-B3FE-94053CFEAD62}" srcOrd="0" destOrd="0" presId="urn:microsoft.com/office/officeart/2005/8/layout/hList6"/>
    <dgm:cxn modelId="{6F35E0F9-BDD4-4D4E-8EEA-56716AE59913}" srcId="{10C1074B-A616-4BB0-B71A-87BF9F7CBBD7}" destId="{73A7F1D6-8631-4338-9F38-EFAC23B75A8B}" srcOrd="0" destOrd="0" parTransId="{C865394B-BE12-4F64-8C17-F663A988A1CA}" sibTransId="{5951ED9F-5C0C-4035-A4F4-040097CE67D4}"/>
    <dgm:cxn modelId="{D2A2D0F4-1902-44EB-A11F-893E2F4C99D7}" type="presParOf" srcId="{C689C5AF-FA59-4323-B3FE-94053CFEAD62}" destId="{BE9DDF76-C69C-4339-AE77-630E35283FCC}" srcOrd="0" destOrd="0" presId="urn:microsoft.com/office/officeart/2005/8/layout/hList6"/>
    <dgm:cxn modelId="{C8A15158-4630-4436-9824-47158C84741C}" type="presParOf" srcId="{C689C5AF-FA59-4323-B3FE-94053CFEAD62}" destId="{EDA2DC58-3FEA-4221-B3B1-8F11E8FAB2C9}" srcOrd="1" destOrd="0" presId="urn:microsoft.com/office/officeart/2005/8/layout/hList6"/>
    <dgm:cxn modelId="{69FA97BB-1093-44F8-956D-145DA087C588}" type="presParOf" srcId="{C689C5AF-FA59-4323-B3FE-94053CFEAD62}" destId="{6730DAC0-0E43-46E2-88A1-5DC3044CDDE3}" srcOrd="2" destOrd="0" presId="urn:microsoft.com/office/officeart/2005/8/layout/hList6"/>
    <dgm:cxn modelId="{39A21D13-488A-4000-ACC3-F21C2E04D7CB}" type="presParOf" srcId="{C689C5AF-FA59-4323-B3FE-94053CFEAD62}" destId="{5D155F0E-6818-4EAB-8D10-3B3CFF20A354}" srcOrd="3" destOrd="0" presId="urn:microsoft.com/office/officeart/2005/8/layout/hList6"/>
    <dgm:cxn modelId="{A70AA9B0-518A-40EA-A31C-3AECC8D786FD}" type="presParOf" srcId="{C689C5AF-FA59-4323-B3FE-94053CFEAD62}" destId="{603873CE-AC82-4713-9549-34CE59B1DD46}"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7284319-50CA-4418-912E-286B5678B2C7}" type="doc">
      <dgm:prSet loTypeId="urn:microsoft.com/office/officeart/2005/8/layout/vList2" loCatId="list" qsTypeId="urn:microsoft.com/office/officeart/2005/8/quickstyle/simple1" qsCatId="simple" csTypeId="urn:microsoft.com/office/officeart/2005/8/colors/accent1_1" csCatId="accent1"/>
      <dgm:spPr/>
      <dgm:t>
        <a:bodyPr/>
        <a:lstStyle/>
        <a:p>
          <a:endParaRPr lang="en-US"/>
        </a:p>
      </dgm:t>
    </dgm:pt>
    <dgm:pt modelId="{F286AC6F-1112-4588-9B36-2356C0D87380}">
      <dgm:prSet/>
      <dgm:spPr/>
      <dgm:t>
        <a:bodyPr/>
        <a:lstStyle/>
        <a:p>
          <a:r>
            <a:rPr lang="en-US" dirty="0">
              <a:solidFill>
                <a:srgbClr val="0A0337"/>
              </a:solidFill>
            </a:rPr>
            <a:t>From Raw Data to Actionable Insights</a:t>
          </a:r>
        </a:p>
      </dgm:t>
    </dgm:pt>
    <dgm:pt modelId="{531B6CE0-40AF-441E-80DD-3A0118166B4A}" type="parTrans" cxnId="{70FB8AA2-8EE5-4F1E-892C-C63B97DBC6DF}">
      <dgm:prSet/>
      <dgm:spPr/>
      <dgm:t>
        <a:bodyPr/>
        <a:lstStyle/>
        <a:p>
          <a:endParaRPr lang="en-US"/>
        </a:p>
      </dgm:t>
    </dgm:pt>
    <dgm:pt modelId="{06122442-392E-49A0-9C34-D0176B520134}" type="sibTrans" cxnId="{70FB8AA2-8EE5-4F1E-892C-C63B97DBC6DF}">
      <dgm:prSet/>
      <dgm:spPr/>
      <dgm:t>
        <a:bodyPr/>
        <a:lstStyle/>
        <a:p>
          <a:endParaRPr lang="en-US"/>
        </a:p>
      </dgm:t>
    </dgm:pt>
    <dgm:pt modelId="{C7EEF593-88B3-4278-9683-2EC685538941}" type="pres">
      <dgm:prSet presAssocID="{D7284319-50CA-4418-912E-286B5678B2C7}" presName="linear" presStyleCnt="0">
        <dgm:presLayoutVars>
          <dgm:animLvl val="lvl"/>
          <dgm:resizeHandles val="exact"/>
        </dgm:presLayoutVars>
      </dgm:prSet>
      <dgm:spPr/>
    </dgm:pt>
    <dgm:pt modelId="{D1E4C7B1-018C-42AE-B4D5-FECEDE988BD6}" type="pres">
      <dgm:prSet presAssocID="{F286AC6F-1112-4588-9B36-2356C0D87380}" presName="parentText" presStyleLbl="node1" presStyleIdx="0" presStyleCnt="1">
        <dgm:presLayoutVars>
          <dgm:chMax val="0"/>
          <dgm:bulletEnabled val="1"/>
        </dgm:presLayoutVars>
      </dgm:prSet>
      <dgm:spPr/>
    </dgm:pt>
  </dgm:ptLst>
  <dgm:cxnLst>
    <dgm:cxn modelId="{70FB8AA2-8EE5-4F1E-892C-C63B97DBC6DF}" srcId="{D7284319-50CA-4418-912E-286B5678B2C7}" destId="{F286AC6F-1112-4588-9B36-2356C0D87380}" srcOrd="0" destOrd="0" parTransId="{531B6CE0-40AF-441E-80DD-3A0118166B4A}" sibTransId="{06122442-392E-49A0-9C34-D0176B520134}"/>
    <dgm:cxn modelId="{B6EF35B6-7FA7-4AA0-BD47-AD065100089C}" type="presOf" srcId="{F286AC6F-1112-4588-9B36-2356C0D87380}" destId="{D1E4C7B1-018C-42AE-B4D5-FECEDE988BD6}" srcOrd="0" destOrd="0" presId="urn:microsoft.com/office/officeart/2005/8/layout/vList2"/>
    <dgm:cxn modelId="{EB70CBEC-0DF7-4F26-9996-2AF90D586E36}" type="presOf" srcId="{D7284319-50CA-4418-912E-286B5678B2C7}" destId="{C7EEF593-88B3-4278-9683-2EC685538941}" srcOrd="0" destOrd="0" presId="urn:microsoft.com/office/officeart/2005/8/layout/vList2"/>
    <dgm:cxn modelId="{CB07AAE0-68BC-42E1-AC0A-846DDF22EB1C}" type="presParOf" srcId="{C7EEF593-88B3-4278-9683-2EC685538941}" destId="{D1E4C7B1-018C-42AE-B4D5-FECEDE988BD6}"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A23334-7629-4EF9-8940-2C4B7D37544C}" type="doc">
      <dgm:prSet loTypeId="urn:microsoft.com/office/officeart/2005/8/layout/hierarchy4" loCatId="relationship" qsTypeId="urn:microsoft.com/office/officeart/2005/8/quickstyle/3d1" qsCatId="3D" csTypeId="urn:microsoft.com/office/officeart/2005/8/colors/accent1_5" csCatId="accent1"/>
      <dgm:spPr/>
      <dgm:t>
        <a:bodyPr/>
        <a:lstStyle/>
        <a:p>
          <a:endParaRPr lang="en-US"/>
        </a:p>
      </dgm:t>
    </dgm:pt>
    <dgm:pt modelId="{6002584D-69C4-4C55-B2B2-2E09035E0D2F}">
      <dgm:prSet/>
      <dgm:spPr/>
      <dgm:t>
        <a:bodyPr/>
        <a:lstStyle/>
        <a:p>
          <a:r>
            <a:rPr lang="en-US" dirty="0"/>
            <a:t>Data Engineering &amp; Analysis (SQL): Engineered complex queries to extract, clean, and manipulate massive raw transactional data. Calculated custom metrics such as exact delay durations (Actual vs. Scheduled shipping dates) and aggregated total financial risks.</a:t>
          </a:r>
        </a:p>
      </dgm:t>
    </dgm:pt>
    <dgm:pt modelId="{5153B606-E211-4B59-A8F8-279ACCBA096E}" type="parTrans" cxnId="{ECA48C7A-2A16-48E6-BA47-BC5423F85172}">
      <dgm:prSet/>
      <dgm:spPr/>
      <dgm:t>
        <a:bodyPr/>
        <a:lstStyle/>
        <a:p>
          <a:endParaRPr lang="en-US"/>
        </a:p>
      </dgm:t>
    </dgm:pt>
    <dgm:pt modelId="{04647F97-73AE-4DC5-881B-4768655B893E}" type="sibTrans" cxnId="{ECA48C7A-2A16-48E6-BA47-BC5423F85172}">
      <dgm:prSet/>
      <dgm:spPr/>
      <dgm:t>
        <a:bodyPr/>
        <a:lstStyle/>
        <a:p>
          <a:endParaRPr lang="en-US"/>
        </a:p>
      </dgm:t>
    </dgm:pt>
    <dgm:pt modelId="{E6A11D1F-CC72-477C-89CB-29F3D0897A30}">
      <dgm:prSet/>
      <dgm:spPr/>
      <dgm:t>
        <a:bodyPr/>
        <a:lstStyle/>
        <a:p>
          <a:r>
            <a:rPr lang="en-US"/>
            <a:t>Interactive Visualization (Tableau): Translated raw SQL outputs into a dynamic, interactive dashboard. Designed geographic heat maps, KPI cards, and trend lines to empower stakeholders to drill down into specific regions, shipping modes, and product categories for root-cause analysis.</a:t>
          </a:r>
        </a:p>
      </dgm:t>
    </dgm:pt>
    <dgm:pt modelId="{9DBF809E-69BC-4225-84C0-FDE654ADE211}" type="parTrans" cxnId="{7FD7C861-466B-4A42-8BF6-B58E1C06199A}">
      <dgm:prSet/>
      <dgm:spPr/>
      <dgm:t>
        <a:bodyPr/>
        <a:lstStyle/>
        <a:p>
          <a:endParaRPr lang="en-US"/>
        </a:p>
      </dgm:t>
    </dgm:pt>
    <dgm:pt modelId="{69B227AC-073B-4DB0-8DDD-F10F11BF61E0}" type="sibTrans" cxnId="{7FD7C861-466B-4A42-8BF6-B58E1C06199A}">
      <dgm:prSet/>
      <dgm:spPr/>
      <dgm:t>
        <a:bodyPr/>
        <a:lstStyle/>
        <a:p>
          <a:endParaRPr lang="en-US"/>
        </a:p>
      </dgm:t>
    </dgm:pt>
    <dgm:pt modelId="{25B9710A-7673-47CF-BB0A-BE3DE1A7BD21}" type="pres">
      <dgm:prSet presAssocID="{92A23334-7629-4EF9-8940-2C4B7D37544C}" presName="Name0" presStyleCnt="0">
        <dgm:presLayoutVars>
          <dgm:chPref val="1"/>
          <dgm:dir/>
          <dgm:animOne val="branch"/>
          <dgm:animLvl val="lvl"/>
          <dgm:resizeHandles/>
        </dgm:presLayoutVars>
      </dgm:prSet>
      <dgm:spPr/>
    </dgm:pt>
    <dgm:pt modelId="{0191A435-0375-4338-B9A2-A24753482BBE}" type="pres">
      <dgm:prSet presAssocID="{6002584D-69C4-4C55-B2B2-2E09035E0D2F}" presName="vertOne" presStyleCnt="0"/>
      <dgm:spPr/>
    </dgm:pt>
    <dgm:pt modelId="{2E691815-5E0E-4E45-86D1-AB8C71D2BCE6}" type="pres">
      <dgm:prSet presAssocID="{6002584D-69C4-4C55-B2B2-2E09035E0D2F}" presName="txOne" presStyleLbl="node0" presStyleIdx="0" presStyleCnt="2">
        <dgm:presLayoutVars>
          <dgm:chPref val="3"/>
        </dgm:presLayoutVars>
      </dgm:prSet>
      <dgm:spPr/>
    </dgm:pt>
    <dgm:pt modelId="{9225DA29-7D44-4820-90E2-F9AAED7A10D7}" type="pres">
      <dgm:prSet presAssocID="{6002584D-69C4-4C55-B2B2-2E09035E0D2F}" presName="horzOne" presStyleCnt="0"/>
      <dgm:spPr/>
    </dgm:pt>
    <dgm:pt modelId="{3A2101E5-44FD-49D8-AAF3-F2798C191DE0}" type="pres">
      <dgm:prSet presAssocID="{04647F97-73AE-4DC5-881B-4768655B893E}" presName="sibSpaceOne" presStyleCnt="0"/>
      <dgm:spPr/>
    </dgm:pt>
    <dgm:pt modelId="{73923E75-E869-4B18-9D82-12656753511B}" type="pres">
      <dgm:prSet presAssocID="{E6A11D1F-CC72-477C-89CB-29F3D0897A30}" presName="vertOne" presStyleCnt="0"/>
      <dgm:spPr/>
    </dgm:pt>
    <dgm:pt modelId="{E4A08A9C-EF54-40A2-9A71-2F5593C41FE0}" type="pres">
      <dgm:prSet presAssocID="{E6A11D1F-CC72-477C-89CB-29F3D0897A30}" presName="txOne" presStyleLbl="node0" presStyleIdx="1" presStyleCnt="2">
        <dgm:presLayoutVars>
          <dgm:chPref val="3"/>
        </dgm:presLayoutVars>
      </dgm:prSet>
      <dgm:spPr/>
    </dgm:pt>
    <dgm:pt modelId="{038BFFD0-E3B3-42D2-AB1C-7D217358F74C}" type="pres">
      <dgm:prSet presAssocID="{E6A11D1F-CC72-477C-89CB-29F3D0897A30}" presName="horzOne" presStyleCnt="0"/>
      <dgm:spPr/>
    </dgm:pt>
  </dgm:ptLst>
  <dgm:cxnLst>
    <dgm:cxn modelId="{63CFCA2D-BC51-43FD-8668-D7834455266C}" type="presOf" srcId="{6002584D-69C4-4C55-B2B2-2E09035E0D2F}" destId="{2E691815-5E0E-4E45-86D1-AB8C71D2BCE6}" srcOrd="0" destOrd="0" presId="urn:microsoft.com/office/officeart/2005/8/layout/hierarchy4"/>
    <dgm:cxn modelId="{7FD7C861-466B-4A42-8BF6-B58E1C06199A}" srcId="{92A23334-7629-4EF9-8940-2C4B7D37544C}" destId="{E6A11D1F-CC72-477C-89CB-29F3D0897A30}" srcOrd="1" destOrd="0" parTransId="{9DBF809E-69BC-4225-84C0-FDE654ADE211}" sibTransId="{69B227AC-073B-4DB0-8DDD-F10F11BF61E0}"/>
    <dgm:cxn modelId="{36D9FD63-E307-4D5F-B16F-64E912FFABD9}" type="presOf" srcId="{E6A11D1F-CC72-477C-89CB-29F3D0897A30}" destId="{E4A08A9C-EF54-40A2-9A71-2F5593C41FE0}" srcOrd="0" destOrd="0" presId="urn:microsoft.com/office/officeart/2005/8/layout/hierarchy4"/>
    <dgm:cxn modelId="{ECA48C7A-2A16-48E6-BA47-BC5423F85172}" srcId="{92A23334-7629-4EF9-8940-2C4B7D37544C}" destId="{6002584D-69C4-4C55-B2B2-2E09035E0D2F}" srcOrd="0" destOrd="0" parTransId="{5153B606-E211-4B59-A8F8-279ACCBA096E}" sibTransId="{04647F97-73AE-4DC5-881B-4768655B893E}"/>
    <dgm:cxn modelId="{76E99188-C331-4E21-A034-86F523F46051}" type="presOf" srcId="{92A23334-7629-4EF9-8940-2C4B7D37544C}" destId="{25B9710A-7673-47CF-BB0A-BE3DE1A7BD21}" srcOrd="0" destOrd="0" presId="urn:microsoft.com/office/officeart/2005/8/layout/hierarchy4"/>
    <dgm:cxn modelId="{C3BE1C9F-7771-449C-99BB-65FEBF970078}" type="presParOf" srcId="{25B9710A-7673-47CF-BB0A-BE3DE1A7BD21}" destId="{0191A435-0375-4338-B9A2-A24753482BBE}" srcOrd="0" destOrd="0" presId="urn:microsoft.com/office/officeart/2005/8/layout/hierarchy4"/>
    <dgm:cxn modelId="{2C90D1B2-5FEB-4425-B890-1057F21E8FA4}" type="presParOf" srcId="{0191A435-0375-4338-B9A2-A24753482BBE}" destId="{2E691815-5E0E-4E45-86D1-AB8C71D2BCE6}" srcOrd="0" destOrd="0" presId="urn:microsoft.com/office/officeart/2005/8/layout/hierarchy4"/>
    <dgm:cxn modelId="{EADDBFCB-C503-47DA-96F3-E1F652DCE5E9}" type="presParOf" srcId="{0191A435-0375-4338-B9A2-A24753482BBE}" destId="{9225DA29-7D44-4820-90E2-F9AAED7A10D7}" srcOrd="1" destOrd="0" presId="urn:microsoft.com/office/officeart/2005/8/layout/hierarchy4"/>
    <dgm:cxn modelId="{29C83A39-BF8B-46BE-BE85-B172D9A93018}" type="presParOf" srcId="{25B9710A-7673-47CF-BB0A-BE3DE1A7BD21}" destId="{3A2101E5-44FD-49D8-AAF3-F2798C191DE0}" srcOrd="1" destOrd="0" presId="urn:microsoft.com/office/officeart/2005/8/layout/hierarchy4"/>
    <dgm:cxn modelId="{8CE5EEA8-28D2-4AFC-96D3-4DED15EE83DE}" type="presParOf" srcId="{25B9710A-7673-47CF-BB0A-BE3DE1A7BD21}" destId="{73923E75-E869-4B18-9D82-12656753511B}" srcOrd="2" destOrd="0" presId="urn:microsoft.com/office/officeart/2005/8/layout/hierarchy4"/>
    <dgm:cxn modelId="{77A7A453-AD47-49B3-9490-882D451C040A}" type="presParOf" srcId="{73923E75-E869-4B18-9D82-12656753511B}" destId="{E4A08A9C-EF54-40A2-9A71-2F5593C41FE0}" srcOrd="0" destOrd="0" presId="urn:microsoft.com/office/officeart/2005/8/layout/hierarchy4"/>
    <dgm:cxn modelId="{B7676BEB-7525-42D1-82D4-481E2A68279A}" type="presParOf" srcId="{73923E75-E869-4B18-9D82-12656753511B}" destId="{038BFFD0-E3B3-42D2-AB1C-7D217358F74C}" srcOrd="1" destOrd="0" presId="urn:microsoft.com/office/officeart/2005/8/layout/hierarchy4"/>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0C1074B-A616-4BB0-B71A-87BF9F7CBBD7}" type="doc">
      <dgm:prSet loTypeId="urn:microsoft.com/office/officeart/2005/8/layout/hList6" loCatId="list" qsTypeId="urn:microsoft.com/office/officeart/2005/8/quickstyle/3d3" qsCatId="3D" csTypeId="urn:microsoft.com/office/officeart/2005/8/colors/accent1_3" csCatId="accent1"/>
      <dgm:spPr/>
      <dgm:t>
        <a:bodyPr/>
        <a:lstStyle/>
        <a:p>
          <a:endParaRPr lang="en-US"/>
        </a:p>
      </dgm:t>
    </dgm:pt>
    <dgm:pt modelId="{73A7F1D6-8631-4338-9F38-EFAC23B75A8B}">
      <dgm:prSet/>
      <dgm:spPr/>
      <dgm:t>
        <a:bodyPr/>
        <a:lstStyle/>
        <a:p>
          <a:r>
            <a:rPr lang="en-US" dirty="0">
              <a:solidFill>
                <a:schemeClr val="tx2">
                  <a:lumMod val="10000"/>
                  <a:lumOff val="90000"/>
                </a:schemeClr>
              </a:solidFill>
            </a:rPr>
            <a:t>Critical Delivery Failures: Analysis revealed a staggering 36,048 orders failing to meet their scheduled delivery dates, directly impacting customer trust and brand reputation.</a:t>
          </a:r>
        </a:p>
      </dgm:t>
    </dgm:pt>
    <dgm:pt modelId="{C865394B-BE12-4F64-8C17-F663A988A1CA}" type="parTrans" cxnId="{6F35E0F9-BDD4-4D4E-8EEA-56716AE59913}">
      <dgm:prSet/>
      <dgm:spPr/>
      <dgm:t>
        <a:bodyPr/>
        <a:lstStyle/>
        <a:p>
          <a:endParaRPr lang="en-US"/>
        </a:p>
      </dgm:t>
    </dgm:pt>
    <dgm:pt modelId="{5951ED9F-5C0C-4035-A4F4-040097CE67D4}" type="sibTrans" cxnId="{6F35E0F9-BDD4-4D4E-8EEA-56716AE59913}">
      <dgm:prSet/>
      <dgm:spPr/>
      <dgm:t>
        <a:bodyPr/>
        <a:lstStyle/>
        <a:p>
          <a:endParaRPr lang="en-US"/>
        </a:p>
      </dgm:t>
    </dgm:pt>
    <dgm:pt modelId="{8CE7E340-AABD-4F12-9680-57875EDD2688}">
      <dgm:prSet/>
      <dgm:spPr/>
      <dgm:t>
        <a:bodyPr/>
        <a:lstStyle/>
        <a:p>
          <a:r>
            <a:rPr lang="en-US" dirty="0">
              <a:solidFill>
                <a:schemeClr val="bg1"/>
              </a:solidFill>
            </a:rPr>
            <a:t>Severe Financial Impact (Revenue at Risk): These logistical bottlenecks have trapped approximately $20.1 Million in delayed transit. This represents a significant amount of capital tied up due to operational inefficiencies.</a:t>
          </a:r>
        </a:p>
      </dgm:t>
    </dgm:pt>
    <dgm:pt modelId="{1BB00E4E-08F4-4945-A6D9-9DA3F95177FD}" type="parTrans" cxnId="{500F8C8C-A9AE-4E53-BF87-AC182A2DD2C8}">
      <dgm:prSet/>
      <dgm:spPr/>
      <dgm:t>
        <a:bodyPr/>
        <a:lstStyle/>
        <a:p>
          <a:endParaRPr lang="en-US"/>
        </a:p>
      </dgm:t>
    </dgm:pt>
    <dgm:pt modelId="{10B8DBF4-4697-4B1F-88FD-92D52D102CFB}" type="sibTrans" cxnId="{500F8C8C-A9AE-4E53-BF87-AC182A2DD2C8}">
      <dgm:prSet/>
      <dgm:spPr/>
      <dgm:t>
        <a:bodyPr/>
        <a:lstStyle/>
        <a:p>
          <a:endParaRPr lang="en-US"/>
        </a:p>
      </dgm:t>
    </dgm:pt>
    <dgm:pt modelId="{87A57F10-E93F-47B3-BBED-80B79E7D1897}">
      <dgm:prSet custT="1"/>
      <dgm:spPr/>
      <dgm:t>
        <a:bodyPr/>
        <a:lstStyle/>
        <a:p>
          <a:r>
            <a:rPr lang="en-US" sz="1600" dirty="0">
              <a:solidFill>
                <a:schemeClr val="tx2">
                  <a:lumMod val="90000"/>
                  <a:lumOff val="10000"/>
                </a:schemeClr>
              </a:solidFill>
            </a:rPr>
            <a:t>Customer Experience Degradation: The average delay duration across all delayed shipments is 1.62 days. In a competitive e-commerce landscape, this prolonged wait time significantly increases the risk of customer churn and negative reviews.</a:t>
          </a:r>
        </a:p>
      </dgm:t>
    </dgm:pt>
    <dgm:pt modelId="{8A84FF96-A84D-4C6A-8117-A3B3C72EE1E5}" type="parTrans" cxnId="{FFE2D852-BD07-48B9-82F4-BE55840C8424}">
      <dgm:prSet/>
      <dgm:spPr/>
      <dgm:t>
        <a:bodyPr/>
        <a:lstStyle/>
        <a:p>
          <a:endParaRPr lang="en-US"/>
        </a:p>
      </dgm:t>
    </dgm:pt>
    <dgm:pt modelId="{6A48ABC3-47C7-4A39-8A13-490A274901F6}" type="sibTrans" cxnId="{FFE2D852-BD07-48B9-82F4-BE55840C8424}">
      <dgm:prSet/>
      <dgm:spPr/>
      <dgm:t>
        <a:bodyPr/>
        <a:lstStyle/>
        <a:p>
          <a:endParaRPr lang="en-US"/>
        </a:p>
      </dgm:t>
    </dgm:pt>
    <dgm:pt modelId="{C689C5AF-FA59-4323-B3FE-94053CFEAD62}" type="pres">
      <dgm:prSet presAssocID="{10C1074B-A616-4BB0-B71A-87BF9F7CBBD7}" presName="Name0" presStyleCnt="0">
        <dgm:presLayoutVars>
          <dgm:dir/>
          <dgm:resizeHandles val="exact"/>
        </dgm:presLayoutVars>
      </dgm:prSet>
      <dgm:spPr/>
    </dgm:pt>
    <dgm:pt modelId="{BE9DDF76-C69C-4339-AE77-630E35283FCC}" type="pres">
      <dgm:prSet presAssocID="{73A7F1D6-8631-4338-9F38-EFAC23B75A8B}" presName="node" presStyleLbl="node1" presStyleIdx="0" presStyleCnt="3">
        <dgm:presLayoutVars>
          <dgm:bulletEnabled val="1"/>
        </dgm:presLayoutVars>
      </dgm:prSet>
      <dgm:spPr/>
    </dgm:pt>
    <dgm:pt modelId="{EDA2DC58-3FEA-4221-B3B1-8F11E8FAB2C9}" type="pres">
      <dgm:prSet presAssocID="{5951ED9F-5C0C-4035-A4F4-040097CE67D4}" presName="sibTrans" presStyleCnt="0"/>
      <dgm:spPr/>
    </dgm:pt>
    <dgm:pt modelId="{6730DAC0-0E43-46E2-88A1-5DC3044CDDE3}" type="pres">
      <dgm:prSet presAssocID="{8CE7E340-AABD-4F12-9680-57875EDD2688}" presName="node" presStyleLbl="node1" presStyleIdx="1" presStyleCnt="3">
        <dgm:presLayoutVars>
          <dgm:bulletEnabled val="1"/>
        </dgm:presLayoutVars>
      </dgm:prSet>
      <dgm:spPr/>
    </dgm:pt>
    <dgm:pt modelId="{5D155F0E-6818-4EAB-8D10-3B3CFF20A354}" type="pres">
      <dgm:prSet presAssocID="{10B8DBF4-4697-4B1F-88FD-92D52D102CFB}" presName="sibTrans" presStyleCnt="0"/>
      <dgm:spPr/>
    </dgm:pt>
    <dgm:pt modelId="{603873CE-AC82-4713-9549-34CE59B1DD46}" type="pres">
      <dgm:prSet presAssocID="{87A57F10-E93F-47B3-BBED-80B79E7D1897}" presName="node" presStyleLbl="node1" presStyleIdx="2" presStyleCnt="3">
        <dgm:presLayoutVars>
          <dgm:bulletEnabled val="1"/>
        </dgm:presLayoutVars>
      </dgm:prSet>
      <dgm:spPr/>
    </dgm:pt>
  </dgm:ptLst>
  <dgm:cxnLst>
    <dgm:cxn modelId="{FFE2D852-BD07-48B9-82F4-BE55840C8424}" srcId="{10C1074B-A616-4BB0-B71A-87BF9F7CBBD7}" destId="{87A57F10-E93F-47B3-BBED-80B79E7D1897}" srcOrd="2" destOrd="0" parTransId="{8A84FF96-A84D-4C6A-8117-A3B3C72EE1E5}" sibTransId="{6A48ABC3-47C7-4A39-8A13-490A274901F6}"/>
    <dgm:cxn modelId="{F5894057-A95E-420B-8CE3-3B8B4BCB366E}" type="presOf" srcId="{73A7F1D6-8631-4338-9F38-EFAC23B75A8B}" destId="{BE9DDF76-C69C-4339-AE77-630E35283FCC}" srcOrd="0" destOrd="0" presId="urn:microsoft.com/office/officeart/2005/8/layout/hList6"/>
    <dgm:cxn modelId="{01F2B858-099E-4D23-A74F-367DEC9FADF3}" type="presOf" srcId="{8CE7E340-AABD-4F12-9680-57875EDD2688}" destId="{6730DAC0-0E43-46E2-88A1-5DC3044CDDE3}" srcOrd="0" destOrd="0" presId="urn:microsoft.com/office/officeart/2005/8/layout/hList6"/>
    <dgm:cxn modelId="{FD1DDD7B-2DA3-44B9-8F21-CF4A7069FD49}" type="presOf" srcId="{87A57F10-E93F-47B3-BBED-80B79E7D1897}" destId="{603873CE-AC82-4713-9549-34CE59B1DD46}" srcOrd="0" destOrd="0" presId="urn:microsoft.com/office/officeart/2005/8/layout/hList6"/>
    <dgm:cxn modelId="{500F8C8C-A9AE-4E53-BF87-AC182A2DD2C8}" srcId="{10C1074B-A616-4BB0-B71A-87BF9F7CBBD7}" destId="{8CE7E340-AABD-4F12-9680-57875EDD2688}" srcOrd="1" destOrd="0" parTransId="{1BB00E4E-08F4-4945-A6D9-9DA3F95177FD}" sibTransId="{10B8DBF4-4697-4B1F-88FD-92D52D102CFB}"/>
    <dgm:cxn modelId="{338760AF-39CC-4215-A6BF-3B9B842888CC}" type="presOf" srcId="{10C1074B-A616-4BB0-B71A-87BF9F7CBBD7}" destId="{C689C5AF-FA59-4323-B3FE-94053CFEAD62}" srcOrd="0" destOrd="0" presId="urn:microsoft.com/office/officeart/2005/8/layout/hList6"/>
    <dgm:cxn modelId="{6F35E0F9-BDD4-4D4E-8EEA-56716AE59913}" srcId="{10C1074B-A616-4BB0-B71A-87BF9F7CBBD7}" destId="{73A7F1D6-8631-4338-9F38-EFAC23B75A8B}" srcOrd="0" destOrd="0" parTransId="{C865394B-BE12-4F64-8C17-F663A988A1CA}" sibTransId="{5951ED9F-5C0C-4035-A4F4-040097CE67D4}"/>
    <dgm:cxn modelId="{D2A2D0F4-1902-44EB-A11F-893E2F4C99D7}" type="presParOf" srcId="{C689C5AF-FA59-4323-B3FE-94053CFEAD62}" destId="{BE9DDF76-C69C-4339-AE77-630E35283FCC}" srcOrd="0" destOrd="0" presId="urn:microsoft.com/office/officeart/2005/8/layout/hList6"/>
    <dgm:cxn modelId="{C8A15158-4630-4436-9824-47158C84741C}" type="presParOf" srcId="{C689C5AF-FA59-4323-B3FE-94053CFEAD62}" destId="{EDA2DC58-3FEA-4221-B3B1-8F11E8FAB2C9}" srcOrd="1" destOrd="0" presId="urn:microsoft.com/office/officeart/2005/8/layout/hList6"/>
    <dgm:cxn modelId="{69FA97BB-1093-44F8-956D-145DA087C588}" type="presParOf" srcId="{C689C5AF-FA59-4323-B3FE-94053CFEAD62}" destId="{6730DAC0-0E43-46E2-88A1-5DC3044CDDE3}" srcOrd="2" destOrd="0" presId="urn:microsoft.com/office/officeart/2005/8/layout/hList6"/>
    <dgm:cxn modelId="{39A21D13-488A-4000-ACC3-F21C2E04D7CB}" type="presParOf" srcId="{C689C5AF-FA59-4323-B3FE-94053CFEAD62}" destId="{5D155F0E-6818-4EAB-8D10-3B3CFF20A354}" srcOrd="3" destOrd="0" presId="urn:microsoft.com/office/officeart/2005/8/layout/hList6"/>
    <dgm:cxn modelId="{A70AA9B0-518A-40EA-A31C-3AECC8D786FD}" type="presParOf" srcId="{C689C5AF-FA59-4323-B3FE-94053CFEAD62}" destId="{603873CE-AC82-4713-9549-34CE59B1DD46}" srcOrd="4" destOrd="0" presId="urn:microsoft.com/office/officeart/2005/8/layout/hList6"/>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FE5DB09-B536-4A6C-A325-09047A5605DF}" type="doc">
      <dgm:prSet loTypeId="urn:microsoft.com/office/officeart/2005/8/layout/vList2" loCatId="list" qsTypeId="urn:microsoft.com/office/officeart/2005/8/quickstyle/simple1" qsCatId="simple" csTypeId="urn:microsoft.com/office/officeart/2005/8/colors/accent3_3" csCatId="accent3"/>
      <dgm:spPr/>
      <dgm:t>
        <a:bodyPr/>
        <a:lstStyle/>
        <a:p>
          <a:endParaRPr lang="en-US"/>
        </a:p>
      </dgm:t>
    </dgm:pt>
    <dgm:pt modelId="{93DC3A0B-2631-45A3-BFC6-27A141DF3027}">
      <dgm:prSet/>
      <dgm:spPr/>
      <dgm:t>
        <a:bodyPr/>
        <a:lstStyle/>
        <a:p>
          <a:r>
            <a:rPr lang="en-US" dirty="0"/>
            <a:t>Key Findings: Uncovering the Root Causes</a:t>
          </a:r>
        </a:p>
      </dgm:t>
    </dgm:pt>
    <dgm:pt modelId="{4E114B61-0F48-4C8E-BBB9-445A8C086257}" type="parTrans" cxnId="{D34E2B3B-5468-4772-A688-A4FCA340DE00}">
      <dgm:prSet/>
      <dgm:spPr/>
      <dgm:t>
        <a:bodyPr/>
        <a:lstStyle/>
        <a:p>
          <a:endParaRPr lang="en-US"/>
        </a:p>
      </dgm:t>
    </dgm:pt>
    <dgm:pt modelId="{75F032EC-5EB2-47C2-852F-612DECAB07EE}" type="sibTrans" cxnId="{D34E2B3B-5468-4772-A688-A4FCA340DE00}">
      <dgm:prSet/>
      <dgm:spPr/>
      <dgm:t>
        <a:bodyPr/>
        <a:lstStyle/>
        <a:p>
          <a:endParaRPr lang="en-US"/>
        </a:p>
      </dgm:t>
    </dgm:pt>
    <dgm:pt modelId="{122B01AE-6101-41E8-A206-0B7C4DEE51B6}" type="pres">
      <dgm:prSet presAssocID="{AFE5DB09-B536-4A6C-A325-09047A5605DF}" presName="linear" presStyleCnt="0">
        <dgm:presLayoutVars>
          <dgm:animLvl val="lvl"/>
          <dgm:resizeHandles val="exact"/>
        </dgm:presLayoutVars>
      </dgm:prSet>
      <dgm:spPr/>
    </dgm:pt>
    <dgm:pt modelId="{A2F366EF-5AB3-4DC5-94C3-16E17F40BF28}" type="pres">
      <dgm:prSet presAssocID="{93DC3A0B-2631-45A3-BFC6-27A141DF3027}" presName="parentText" presStyleLbl="node1" presStyleIdx="0" presStyleCnt="1" custLinFactNeighborX="-8171" custLinFactNeighborY="4765">
        <dgm:presLayoutVars>
          <dgm:chMax val="0"/>
          <dgm:bulletEnabled val="1"/>
        </dgm:presLayoutVars>
      </dgm:prSet>
      <dgm:spPr/>
    </dgm:pt>
  </dgm:ptLst>
  <dgm:cxnLst>
    <dgm:cxn modelId="{73065111-62B1-4D49-B900-D0C8BE9EB212}" type="presOf" srcId="{93DC3A0B-2631-45A3-BFC6-27A141DF3027}" destId="{A2F366EF-5AB3-4DC5-94C3-16E17F40BF28}" srcOrd="0" destOrd="0" presId="urn:microsoft.com/office/officeart/2005/8/layout/vList2"/>
    <dgm:cxn modelId="{D34E2B3B-5468-4772-A688-A4FCA340DE00}" srcId="{AFE5DB09-B536-4A6C-A325-09047A5605DF}" destId="{93DC3A0B-2631-45A3-BFC6-27A141DF3027}" srcOrd="0" destOrd="0" parTransId="{4E114B61-0F48-4C8E-BBB9-445A8C086257}" sibTransId="{75F032EC-5EB2-47C2-852F-612DECAB07EE}"/>
    <dgm:cxn modelId="{397937F4-A79C-4007-B0BA-3DB8C0D65C66}" type="presOf" srcId="{AFE5DB09-B536-4A6C-A325-09047A5605DF}" destId="{122B01AE-6101-41E8-A206-0B7C4DEE51B6}" srcOrd="0" destOrd="0" presId="urn:microsoft.com/office/officeart/2005/8/layout/vList2"/>
    <dgm:cxn modelId="{602A42C9-02B9-41DA-9AB1-264415594B0B}" type="presParOf" srcId="{122B01AE-6101-41E8-A206-0B7C4DEE51B6}" destId="{A2F366EF-5AB3-4DC5-94C3-16E17F40BF28}"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413BF82-1277-455F-A385-EDD67539284D}" type="doc">
      <dgm:prSet loTypeId="urn:microsoft.com/office/officeart/2005/8/layout/StepDownProcess" loCatId="process" qsTypeId="urn:microsoft.com/office/officeart/2005/8/quickstyle/3d1" qsCatId="3D" csTypeId="urn:microsoft.com/office/officeart/2005/8/colors/colorful3" csCatId="colorful"/>
      <dgm:spPr/>
      <dgm:t>
        <a:bodyPr/>
        <a:lstStyle/>
        <a:p>
          <a:endParaRPr lang="en-US"/>
        </a:p>
      </dgm:t>
    </dgm:pt>
    <dgm:pt modelId="{2BFB0C70-089C-4157-AA28-DD6CBB20CEA2}">
      <dgm:prSet custT="1"/>
      <dgm:spPr/>
      <dgm:t>
        <a:bodyPr/>
        <a:lstStyle/>
        <a:p>
          <a:r>
            <a:rPr lang="en-US" sz="1400" b="1" dirty="0">
              <a:solidFill>
                <a:schemeClr val="bg1"/>
              </a:solidFill>
            </a:rPr>
            <a:t>The Shipping Mode Paradox: While "Standard Class" accounts for the highest volume of delayed orders (nearly 15,000), "Second Class" shipping is operationally the most inefficient, recording the longest average delay of 2.5 days per order.</a:t>
          </a:r>
        </a:p>
      </dgm:t>
    </dgm:pt>
    <dgm:pt modelId="{D986CF6B-CEB8-4A88-A133-9837D8DBD27B}" type="parTrans" cxnId="{6B82EFC7-1D47-44C9-8A50-BDC85375E483}">
      <dgm:prSet/>
      <dgm:spPr/>
      <dgm:t>
        <a:bodyPr/>
        <a:lstStyle/>
        <a:p>
          <a:endParaRPr lang="en-US"/>
        </a:p>
      </dgm:t>
    </dgm:pt>
    <dgm:pt modelId="{75AC6AEE-E3F3-4A5D-91B8-783FB60DCAEE}" type="sibTrans" cxnId="{6B82EFC7-1D47-44C9-8A50-BDC85375E483}">
      <dgm:prSet/>
      <dgm:spPr/>
      <dgm:t>
        <a:bodyPr/>
        <a:lstStyle/>
        <a:p>
          <a:endParaRPr lang="en-US"/>
        </a:p>
      </dgm:t>
    </dgm:pt>
    <dgm:pt modelId="{34F48491-7F41-4EB5-8817-4362D98BF0DA}">
      <dgm:prSet custT="1"/>
      <dgm:spPr/>
      <dgm:t>
        <a:bodyPr/>
        <a:lstStyle/>
        <a:p>
          <a:r>
            <a:rPr lang="en-US" sz="1400" dirty="0">
              <a:solidFill>
                <a:srgbClr val="0A0337"/>
              </a:solidFill>
            </a:rPr>
            <a:t>Product-Level Vulnerability: The "Cleats" and "Men's Footwear" categories are experiencing severe supply chain distress, leading the chart with over 11,200 delayed shipments. This indicates a potential vendor or warehouse-specific bottleneck.</a:t>
          </a:r>
        </a:p>
      </dgm:t>
    </dgm:pt>
    <dgm:pt modelId="{5555051D-5236-4A1E-A93B-5685175A75AC}" type="parTrans" cxnId="{A48C9270-3CA7-409E-BE5E-38DDD7B37D5E}">
      <dgm:prSet/>
      <dgm:spPr/>
      <dgm:t>
        <a:bodyPr/>
        <a:lstStyle/>
        <a:p>
          <a:endParaRPr lang="en-US"/>
        </a:p>
      </dgm:t>
    </dgm:pt>
    <dgm:pt modelId="{C023B5AF-55C5-404D-BEED-F6E82D7B2D04}" type="sibTrans" cxnId="{A48C9270-3CA7-409E-BE5E-38DDD7B37D5E}">
      <dgm:prSet/>
      <dgm:spPr/>
      <dgm:t>
        <a:bodyPr/>
        <a:lstStyle/>
        <a:p>
          <a:endParaRPr lang="en-US"/>
        </a:p>
      </dgm:t>
    </dgm:pt>
    <dgm:pt modelId="{28E1762F-AD09-4AB3-A35F-4F2576E265C8}">
      <dgm:prSet custT="1"/>
      <dgm:spPr/>
      <dgm:t>
        <a:bodyPr/>
        <a:lstStyle/>
        <a:p>
          <a:r>
            <a:rPr lang="en-US" sz="1400" dirty="0">
              <a:solidFill>
                <a:schemeClr val="bg1"/>
              </a:solidFill>
            </a:rPr>
            <a:t>Geographical Risk Zones: Geographic mapping exposes Western Europe and Central America as the primary operational pain points, indicating regional logistical failures or carrier underperformance in these specific territories.</a:t>
          </a:r>
        </a:p>
      </dgm:t>
    </dgm:pt>
    <dgm:pt modelId="{25029849-52A0-45C5-960C-A9F66C1FA29C}" type="parTrans" cxnId="{A7BE1EBB-9943-49F9-8A8F-F426D6B9061E}">
      <dgm:prSet/>
      <dgm:spPr/>
      <dgm:t>
        <a:bodyPr/>
        <a:lstStyle/>
        <a:p>
          <a:endParaRPr lang="en-US"/>
        </a:p>
      </dgm:t>
    </dgm:pt>
    <dgm:pt modelId="{09DA92F7-9A4D-42AD-AA89-1160466A227C}" type="sibTrans" cxnId="{A7BE1EBB-9943-49F9-8A8F-F426D6B9061E}">
      <dgm:prSet/>
      <dgm:spPr/>
      <dgm:t>
        <a:bodyPr/>
        <a:lstStyle/>
        <a:p>
          <a:endParaRPr lang="en-US"/>
        </a:p>
      </dgm:t>
    </dgm:pt>
    <dgm:pt modelId="{7AF7EFCB-5EE6-4908-B304-ABE6FDB6AA25}" type="pres">
      <dgm:prSet presAssocID="{1413BF82-1277-455F-A385-EDD67539284D}" presName="rootnode" presStyleCnt="0">
        <dgm:presLayoutVars>
          <dgm:chMax/>
          <dgm:chPref/>
          <dgm:dir/>
          <dgm:animLvl val="lvl"/>
        </dgm:presLayoutVars>
      </dgm:prSet>
      <dgm:spPr/>
    </dgm:pt>
    <dgm:pt modelId="{A863C10C-D626-4552-9B30-CA5C191A98B6}" type="pres">
      <dgm:prSet presAssocID="{2BFB0C70-089C-4157-AA28-DD6CBB20CEA2}" presName="composite" presStyleCnt="0"/>
      <dgm:spPr/>
    </dgm:pt>
    <dgm:pt modelId="{1B556911-D8D5-406B-8083-AA387A0F3B7A}" type="pres">
      <dgm:prSet presAssocID="{2BFB0C70-089C-4157-AA28-DD6CBB20CEA2}" presName="bentUpArrow1" presStyleLbl="alignImgPlace1" presStyleIdx="0" presStyleCnt="2"/>
      <dgm:spPr/>
    </dgm:pt>
    <dgm:pt modelId="{6E3938FF-9D95-49AF-BB2A-D809ECD9177E}" type="pres">
      <dgm:prSet presAssocID="{2BFB0C70-089C-4157-AA28-DD6CBB20CEA2}" presName="ParentText" presStyleLbl="node1" presStyleIdx="0" presStyleCnt="3">
        <dgm:presLayoutVars>
          <dgm:chMax val="1"/>
          <dgm:chPref val="1"/>
          <dgm:bulletEnabled val="1"/>
        </dgm:presLayoutVars>
      </dgm:prSet>
      <dgm:spPr/>
    </dgm:pt>
    <dgm:pt modelId="{22C2B552-7555-486E-9144-437CC190EB89}" type="pres">
      <dgm:prSet presAssocID="{2BFB0C70-089C-4157-AA28-DD6CBB20CEA2}" presName="ChildText" presStyleLbl="revTx" presStyleIdx="0" presStyleCnt="2">
        <dgm:presLayoutVars>
          <dgm:chMax val="0"/>
          <dgm:chPref val="0"/>
          <dgm:bulletEnabled val="1"/>
        </dgm:presLayoutVars>
      </dgm:prSet>
      <dgm:spPr/>
    </dgm:pt>
    <dgm:pt modelId="{25BFA69D-1207-44FA-86DD-EA9BB2822532}" type="pres">
      <dgm:prSet presAssocID="{75AC6AEE-E3F3-4A5D-91B8-783FB60DCAEE}" presName="sibTrans" presStyleCnt="0"/>
      <dgm:spPr/>
    </dgm:pt>
    <dgm:pt modelId="{E2178104-AAE2-4DC0-B4EC-2E3C2C0356AC}" type="pres">
      <dgm:prSet presAssocID="{34F48491-7F41-4EB5-8817-4362D98BF0DA}" presName="composite" presStyleCnt="0"/>
      <dgm:spPr/>
    </dgm:pt>
    <dgm:pt modelId="{BEBC738A-D759-4430-9ED7-24CE0505370E}" type="pres">
      <dgm:prSet presAssocID="{34F48491-7F41-4EB5-8817-4362D98BF0DA}" presName="bentUpArrow1" presStyleLbl="alignImgPlace1" presStyleIdx="1" presStyleCnt="2"/>
      <dgm:spPr/>
    </dgm:pt>
    <dgm:pt modelId="{E6061EB5-9997-4AEC-A2DB-0D5A29511119}" type="pres">
      <dgm:prSet presAssocID="{34F48491-7F41-4EB5-8817-4362D98BF0DA}" presName="ParentText" presStyleLbl="node1" presStyleIdx="1" presStyleCnt="3">
        <dgm:presLayoutVars>
          <dgm:chMax val="1"/>
          <dgm:chPref val="1"/>
          <dgm:bulletEnabled val="1"/>
        </dgm:presLayoutVars>
      </dgm:prSet>
      <dgm:spPr/>
    </dgm:pt>
    <dgm:pt modelId="{1F2100C0-AB37-4782-892A-7775453A6910}" type="pres">
      <dgm:prSet presAssocID="{34F48491-7F41-4EB5-8817-4362D98BF0DA}" presName="ChildText" presStyleLbl="revTx" presStyleIdx="1" presStyleCnt="2">
        <dgm:presLayoutVars>
          <dgm:chMax val="0"/>
          <dgm:chPref val="0"/>
          <dgm:bulletEnabled val="1"/>
        </dgm:presLayoutVars>
      </dgm:prSet>
      <dgm:spPr/>
    </dgm:pt>
    <dgm:pt modelId="{76E28AE0-F690-4000-BDFA-D1F5C836C09D}" type="pres">
      <dgm:prSet presAssocID="{C023B5AF-55C5-404D-BEED-F6E82D7B2D04}" presName="sibTrans" presStyleCnt="0"/>
      <dgm:spPr/>
    </dgm:pt>
    <dgm:pt modelId="{F5EC74B5-E12D-4C2B-875D-8541F703779D}" type="pres">
      <dgm:prSet presAssocID="{28E1762F-AD09-4AB3-A35F-4F2576E265C8}" presName="composite" presStyleCnt="0"/>
      <dgm:spPr/>
    </dgm:pt>
    <dgm:pt modelId="{BC480D10-D86B-438B-9C36-FAC24D6E923B}" type="pres">
      <dgm:prSet presAssocID="{28E1762F-AD09-4AB3-A35F-4F2576E265C8}" presName="ParentText" presStyleLbl="node1" presStyleIdx="2" presStyleCnt="3">
        <dgm:presLayoutVars>
          <dgm:chMax val="1"/>
          <dgm:chPref val="1"/>
          <dgm:bulletEnabled val="1"/>
        </dgm:presLayoutVars>
      </dgm:prSet>
      <dgm:spPr/>
    </dgm:pt>
  </dgm:ptLst>
  <dgm:cxnLst>
    <dgm:cxn modelId="{326E395C-1F2B-4C16-997D-C047CC742061}" type="presOf" srcId="{34F48491-7F41-4EB5-8817-4362D98BF0DA}" destId="{E6061EB5-9997-4AEC-A2DB-0D5A29511119}" srcOrd="0" destOrd="0" presId="urn:microsoft.com/office/officeart/2005/8/layout/StepDownProcess"/>
    <dgm:cxn modelId="{A48C9270-3CA7-409E-BE5E-38DDD7B37D5E}" srcId="{1413BF82-1277-455F-A385-EDD67539284D}" destId="{34F48491-7F41-4EB5-8817-4362D98BF0DA}" srcOrd="1" destOrd="0" parTransId="{5555051D-5236-4A1E-A93B-5685175A75AC}" sibTransId="{C023B5AF-55C5-404D-BEED-F6E82D7B2D04}"/>
    <dgm:cxn modelId="{E846C0AF-3AA0-438A-A14E-6719EAE7C514}" type="presOf" srcId="{28E1762F-AD09-4AB3-A35F-4F2576E265C8}" destId="{BC480D10-D86B-438B-9C36-FAC24D6E923B}" srcOrd="0" destOrd="0" presId="urn:microsoft.com/office/officeart/2005/8/layout/StepDownProcess"/>
    <dgm:cxn modelId="{A7BE1EBB-9943-49F9-8A8F-F426D6B9061E}" srcId="{1413BF82-1277-455F-A385-EDD67539284D}" destId="{28E1762F-AD09-4AB3-A35F-4F2576E265C8}" srcOrd="2" destOrd="0" parTransId="{25029849-52A0-45C5-960C-A9F66C1FA29C}" sibTransId="{09DA92F7-9A4D-42AD-AA89-1160466A227C}"/>
    <dgm:cxn modelId="{6B82EFC7-1D47-44C9-8A50-BDC85375E483}" srcId="{1413BF82-1277-455F-A385-EDD67539284D}" destId="{2BFB0C70-089C-4157-AA28-DD6CBB20CEA2}" srcOrd="0" destOrd="0" parTransId="{D986CF6B-CEB8-4A88-A133-9837D8DBD27B}" sibTransId="{75AC6AEE-E3F3-4A5D-91B8-783FB60DCAEE}"/>
    <dgm:cxn modelId="{82BA90E7-D1A4-47C6-948F-790F853C17C7}" type="presOf" srcId="{2BFB0C70-089C-4157-AA28-DD6CBB20CEA2}" destId="{6E3938FF-9D95-49AF-BB2A-D809ECD9177E}" srcOrd="0" destOrd="0" presId="urn:microsoft.com/office/officeart/2005/8/layout/StepDownProcess"/>
    <dgm:cxn modelId="{149A74ED-0461-4484-9AA2-152BB16FAED3}" type="presOf" srcId="{1413BF82-1277-455F-A385-EDD67539284D}" destId="{7AF7EFCB-5EE6-4908-B304-ABE6FDB6AA25}" srcOrd="0" destOrd="0" presId="urn:microsoft.com/office/officeart/2005/8/layout/StepDownProcess"/>
    <dgm:cxn modelId="{DEB28889-B23A-4A25-B1C9-19C121567FC2}" type="presParOf" srcId="{7AF7EFCB-5EE6-4908-B304-ABE6FDB6AA25}" destId="{A863C10C-D626-4552-9B30-CA5C191A98B6}" srcOrd="0" destOrd="0" presId="urn:microsoft.com/office/officeart/2005/8/layout/StepDownProcess"/>
    <dgm:cxn modelId="{8770113A-B9F9-4A77-9F47-B8A9880B7E82}" type="presParOf" srcId="{A863C10C-D626-4552-9B30-CA5C191A98B6}" destId="{1B556911-D8D5-406B-8083-AA387A0F3B7A}" srcOrd="0" destOrd="0" presId="urn:microsoft.com/office/officeart/2005/8/layout/StepDownProcess"/>
    <dgm:cxn modelId="{7378DB1B-EBCF-4B88-AF55-6FF284310D91}" type="presParOf" srcId="{A863C10C-D626-4552-9B30-CA5C191A98B6}" destId="{6E3938FF-9D95-49AF-BB2A-D809ECD9177E}" srcOrd="1" destOrd="0" presId="urn:microsoft.com/office/officeart/2005/8/layout/StepDownProcess"/>
    <dgm:cxn modelId="{3CF5B272-1AC3-42EE-997A-69A9C9C89434}" type="presParOf" srcId="{A863C10C-D626-4552-9B30-CA5C191A98B6}" destId="{22C2B552-7555-486E-9144-437CC190EB89}" srcOrd="2" destOrd="0" presId="urn:microsoft.com/office/officeart/2005/8/layout/StepDownProcess"/>
    <dgm:cxn modelId="{F251221C-7209-4ED3-9198-7A8618A85A34}" type="presParOf" srcId="{7AF7EFCB-5EE6-4908-B304-ABE6FDB6AA25}" destId="{25BFA69D-1207-44FA-86DD-EA9BB2822532}" srcOrd="1" destOrd="0" presId="urn:microsoft.com/office/officeart/2005/8/layout/StepDownProcess"/>
    <dgm:cxn modelId="{C7E60A48-8E7E-4A2F-9C5E-C18221CBFACB}" type="presParOf" srcId="{7AF7EFCB-5EE6-4908-B304-ABE6FDB6AA25}" destId="{E2178104-AAE2-4DC0-B4EC-2E3C2C0356AC}" srcOrd="2" destOrd="0" presId="urn:microsoft.com/office/officeart/2005/8/layout/StepDownProcess"/>
    <dgm:cxn modelId="{3D1D534E-5724-437E-8DCB-BCD20DE5226E}" type="presParOf" srcId="{E2178104-AAE2-4DC0-B4EC-2E3C2C0356AC}" destId="{BEBC738A-D759-4430-9ED7-24CE0505370E}" srcOrd="0" destOrd="0" presId="urn:microsoft.com/office/officeart/2005/8/layout/StepDownProcess"/>
    <dgm:cxn modelId="{36B8C9CA-209A-4EA4-8B28-A04D3D7BCC22}" type="presParOf" srcId="{E2178104-AAE2-4DC0-B4EC-2E3C2C0356AC}" destId="{E6061EB5-9997-4AEC-A2DB-0D5A29511119}" srcOrd="1" destOrd="0" presId="urn:microsoft.com/office/officeart/2005/8/layout/StepDownProcess"/>
    <dgm:cxn modelId="{629AA619-A67F-424F-9375-01CD550C41CB}" type="presParOf" srcId="{E2178104-AAE2-4DC0-B4EC-2E3C2C0356AC}" destId="{1F2100C0-AB37-4782-892A-7775453A6910}" srcOrd="2" destOrd="0" presId="urn:microsoft.com/office/officeart/2005/8/layout/StepDownProcess"/>
    <dgm:cxn modelId="{B473B77A-D8AC-4AAE-A0A2-237863DBF28B}" type="presParOf" srcId="{7AF7EFCB-5EE6-4908-B304-ABE6FDB6AA25}" destId="{76E28AE0-F690-4000-BDFA-D1F5C836C09D}" srcOrd="3" destOrd="0" presId="urn:microsoft.com/office/officeart/2005/8/layout/StepDownProcess"/>
    <dgm:cxn modelId="{FE2F356F-67A5-4DFF-8C19-B6B2AF6EC0D2}" type="presParOf" srcId="{7AF7EFCB-5EE6-4908-B304-ABE6FDB6AA25}" destId="{F5EC74B5-E12D-4C2B-875D-8541F703779D}" srcOrd="4" destOrd="0" presId="urn:microsoft.com/office/officeart/2005/8/layout/StepDownProcess"/>
    <dgm:cxn modelId="{8EE3024A-BCB6-43E7-9241-BBDCC4206945}" type="presParOf" srcId="{F5EC74B5-E12D-4C2B-875D-8541F703779D}" destId="{BC480D10-D86B-438B-9C36-FAC24D6E923B}" srcOrd="0" destOrd="0" presId="urn:microsoft.com/office/officeart/2005/8/layout/StepDownProcess"/>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2FCCCE4-2253-4B93-85F1-3F9C8976BB27}" type="doc">
      <dgm:prSet loTypeId="urn:microsoft.com/office/officeart/2005/8/layout/vList5" loCatId="list" qsTypeId="urn:microsoft.com/office/officeart/2005/8/quickstyle/3d1" qsCatId="3D" csTypeId="urn:microsoft.com/office/officeart/2005/8/colors/colorful3" csCatId="colorful"/>
      <dgm:spPr/>
      <dgm:t>
        <a:bodyPr/>
        <a:lstStyle/>
        <a:p>
          <a:endParaRPr lang="en-US"/>
        </a:p>
      </dgm:t>
    </dgm:pt>
    <dgm:pt modelId="{0FFBE0BD-A41D-4F8D-8522-BEC0A3EA6511}">
      <dgm:prSet custT="1"/>
      <dgm:spPr/>
      <dgm:t>
        <a:bodyPr/>
        <a:lstStyle/>
        <a:p>
          <a:r>
            <a:rPr lang="en-US" sz="2000" b="1" dirty="0"/>
            <a:t>1. Carrier Renegotiation &amp; SLA Enforcement:</a:t>
          </a:r>
          <a:r>
            <a:rPr lang="en-US" sz="2000" dirty="0"/>
            <a:t> Immediately review Service Level Agreements (SLAs) with carriers handling "Second Class" shipping. Enforce stricter penalties for delays or transition to more reliable third-party logistics (3PL) providers for this tier.</a:t>
          </a:r>
        </a:p>
      </dgm:t>
    </dgm:pt>
    <dgm:pt modelId="{639ED3A6-E4BA-4083-AF8F-FBDC9A38124C}" type="parTrans" cxnId="{586FCEED-F4D7-4DA4-ABF8-1212BABD1960}">
      <dgm:prSet/>
      <dgm:spPr/>
      <dgm:t>
        <a:bodyPr/>
        <a:lstStyle/>
        <a:p>
          <a:endParaRPr lang="en-US"/>
        </a:p>
      </dgm:t>
    </dgm:pt>
    <dgm:pt modelId="{CB8301B8-4875-4AB6-9BDB-2C5B8397A4D4}" type="sibTrans" cxnId="{586FCEED-F4D7-4DA4-ABF8-1212BABD1960}">
      <dgm:prSet/>
      <dgm:spPr/>
      <dgm:t>
        <a:bodyPr/>
        <a:lstStyle/>
        <a:p>
          <a:endParaRPr lang="en-US"/>
        </a:p>
      </dgm:t>
    </dgm:pt>
    <dgm:pt modelId="{A219576D-57A0-4D22-87FE-1601815B53A4}" type="pres">
      <dgm:prSet presAssocID="{C2FCCCE4-2253-4B93-85F1-3F9C8976BB27}" presName="Name0" presStyleCnt="0">
        <dgm:presLayoutVars>
          <dgm:dir/>
          <dgm:animLvl val="lvl"/>
          <dgm:resizeHandles val="exact"/>
        </dgm:presLayoutVars>
      </dgm:prSet>
      <dgm:spPr/>
    </dgm:pt>
    <dgm:pt modelId="{E4B5663C-4EBC-48EA-BF2E-2EE1B5928A6B}" type="pres">
      <dgm:prSet presAssocID="{0FFBE0BD-A41D-4F8D-8522-BEC0A3EA6511}" presName="linNode" presStyleCnt="0"/>
      <dgm:spPr/>
    </dgm:pt>
    <dgm:pt modelId="{326E664E-B8CF-4A9E-9FC1-DE64A89FC239}" type="pres">
      <dgm:prSet presAssocID="{0FFBE0BD-A41D-4F8D-8522-BEC0A3EA6511}" presName="parentText" presStyleLbl="node1" presStyleIdx="0" presStyleCnt="1">
        <dgm:presLayoutVars>
          <dgm:chMax val="1"/>
          <dgm:bulletEnabled val="1"/>
        </dgm:presLayoutVars>
      </dgm:prSet>
      <dgm:spPr/>
    </dgm:pt>
  </dgm:ptLst>
  <dgm:cxnLst>
    <dgm:cxn modelId="{5F459780-A938-48E6-819A-BBA79E360F2F}" type="presOf" srcId="{C2FCCCE4-2253-4B93-85F1-3F9C8976BB27}" destId="{A219576D-57A0-4D22-87FE-1601815B53A4}" srcOrd="0" destOrd="0" presId="urn:microsoft.com/office/officeart/2005/8/layout/vList5"/>
    <dgm:cxn modelId="{586FCEED-F4D7-4DA4-ABF8-1212BABD1960}" srcId="{C2FCCCE4-2253-4B93-85F1-3F9C8976BB27}" destId="{0FFBE0BD-A41D-4F8D-8522-BEC0A3EA6511}" srcOrd="0" destOrd="0" parTransId="{639ED3A6-E4BA-4083-AF8F-FBDC9A38124C}" sibTransId="{CB8301B8-4875-4AB6-9BDB-2C5B8397A4D4}"/>
    <dgm:cxn modelId="{7F5746FE-76F9-4213-98E2-8D99722E9FA7}" type="presOf" srcId="{0FFBE0BD-A41D-4F8D-8522-BEC0A3EA6511}" destId="{326E664E-B8CF-4A9E-9FC1-DE64A89FC239}" srcOrd="0" destOrd="0" presId="urn:microsoft.com/office/officeart/2005/8/layout/vList5"/>
    <dgm:cxn modelId="{85F1A87A-18B9-4C56-9C5F-ACE571290CA2}" type="presParOf" srcId="{A219576D-57A0-4D22-87FE-1601815B53A4}" destId="{E4B5663C-4EBC-48EA-BF2E-2EE1B5928A6B}" srcOrd="0" destOrd="0" presId="urn:microsoft.com/office/officeart/2005/8/layout/vList5"/>
    <dgm:cxn modelId="{909212FB-13FC-411D-AAC6-CDEE6C8F91EB}" type="presParOf" srcId="{E4B5663C-4EBC-48EA-BF2E-2EE1B5928A6B}" destId="{326E664E-B8CF-4A9E-9FC1-DE64A89FC239}" srcOrd="0"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857F11-591C-452D-BDD2-9A462E996FA2}" type="doc">
      <dgm:prSet loTypeId="urn:microsoft.com/office/officeart/2005/8/layout/vList5" loCatId="list" qsTypeId="urn:microsoft.com/office/officeart/2005/8/quickstyle/3d2" qsCatId="3D" csTypeId="urn:microsoft.com/office/officeart/2005/8/colors/colorful2" csCatId="colorful" phldr="1"/>
      <dgm:spPr/>
      <dgm:t>
        <a:bodyPr/>
        <a:lstStyle/>
        <a:p>
          <a:endParaRPr lang="en-US"/>
        </a:p>
      </dgm:t>
    </dgm:pt>
    <dgm:pt modelId="{C15F25E6-DEF0-45A3-B7D5-8060445A30B0}">
      <dgm:prSet custT="1"/>
      <dgm:spPr/>
      <dgm:t>
        <a:bodyPr/>
        <a:lstStyle/>
        <a:p>
          <a:r>
            <a:rPr lang="en-US" sz="2000" b="1" dirty="0"/>
            <a:t>2. Supply Chain Audit for High-Risk Categories:</a:t>
          </a:r>
          <a:r>
            <a:rPr lang="en-US" sz="2000" dirty="0"/>
            <a:t> Conduct an urgent inventory and fulfillment audit for the "Cleats" department. Assess warehouse picking processes and supplier lead times to eliminate internal fulfillment bottlenecks.</a:t>
          </a:r>
        </a:p>
      </dgm:t>
    </dgm:pt>
    <dgm:pt modelId="{3AA4BB7A-3526-4928-91FF-2B12D76399C0}" type="parTrans" cxnId="{7A199873-F6F9-479B-AB96-87F078C8B162}">
      <dgm:prSet/>
      <dgm:spPr/>
      <dgm:t>
        <a:bodyPr/>
        <a:lstStyle/>
        <a:p>
          <a:endParaRPr lang="en-US"/>
        </a:p>
      </dgm:t>
    </dgm:pt>
    <dgm:pt modelId="{3205CC75-CE6A-4988-9A77-6277C6CE8CB3}" type="sibTrans" cxnId="{7A199873-F6F9-479B-AB96-87F078C8B162}">
      <dgm:prSet/>
      <dgm:spPr/>
      <dgm:t>
        <a:bodyPr/>
        <a:lstStyle/>
        <a:p>
          <a:endParaRPr lang="en-US"/>
        </a:p>
      </dgm:t>
    </dgm:pt>
    <dgm:pt modelId="{4AB869A9-6CD5-4767-A5A4-EA46EF07A262}" type="pres">
      <dgm:prSet presAssocID="{D5857F11-591C-452D-BDD2-9A462E996FA2}" presName="Name0" presStyleCnt="0">
        <dgm:presLayoutVars>
          <dgm:dir/>
          <dgm:animLvl val="lvl"/>
          <dgm:resizeHandles val="exact"/>
        </dgm:presLayoutVars>
      </dgm:prSet>
      <dgm:spPr/>
    </dgm:pt>
    <dgm:pt modelId="{08BF4875-DF48-4CA0-B05F-FBFC05248AFA}" type="pres">
      <dgm:prSet presAssocID="{C15F25E6-DEF0-45A3-B7D5-8060445A30B0}" presName="linNode" presStyleCnt="0"/>
      <dgm:spPr/>
    </dgm:pt>
    <dgm:pt modelId="{3126BC87-87CE-4A22-8237-CD0C6D6DAF5C}" type="pres">
      <dgm:prSet presAssocID="{C15F25E6-DEF0-45A3-B7D5-8060445A30B0}" presName="parentText" presStyleLbl="node1" presStyleIdx="0" presStyleCnt="1" custScaleX="93807" custScaleY="81785">
        <dgm:presLayoutVars>
          <dgm:chMax val="1"/>
          <dgm:bulletEnabled val="1"/>
        </dgm:presLayoutVars>
      </dgm:prSet>
      <dgm:spPr/>
    </dgm:pt>
  </dgm:ptLst>
  <dgm:cxnLst>
    <dgm:cxn modelId="{7A199873-F6F9-479B-AB96-87F078C8B162}" srcId="{D5857F11-591C-452D-BDD2-9A462E996FA2}" destId="{C15F25E6-DEF0-45A3-B7D5-8060445A30B0}" srcOrd="0" destOrd="0" parTransId="{3AA4BB7A-3526-4928-91FF-2B12D76399C0}" sibTransId="{3205CC75-CE6A-4988-9A77-6277C6CE8CB3}"/>
    <dgm:cxn modelId="{4B3AAE7F-ECD6-4CE4-9EA3-E453274FDB52}" type="presOf" srcId="{D5857F11-591C-452D-BDD2-9A462E996FA2}" destId="{4AB869A9-6CD5-4767-A5A4-EA46EF07A262}" srcOrd="0" destOrd="0" presId="urn:microsoft.com/office/officeart/2005/8/layout/vList5"/>
    <dgm:cxn modelId="{1002C7BC-A3FA-4ED1-862E-FEC6B137B281}" type="presOf" srcId="{C15F25E6-DEF0-45A3-B7D5-8060445A30B0}" destId="{3126BC87-87CE-4A22-8237-CD0C6D6DAF5C}" srcOrd="0" destOrd="0" presId="urn:microsoft.com/office/officeart/2005/8/layout/vList5"/>
    <dgm:cxn modelId="{7336F049-D4D6-4CCD-9495-C157AB76DB11}" type="presParOf" srcId="{4AB869A9-6CD5-4767-A5A4-EA46EF07A262}" destId="{08BF4875-DF48-4CA0-B05F-FBFC05248AFA}" srcOrd="0" destOrd="0" presId="urn:microsoft.com/office/officeart/2005/8/layout/vList5"/>
    <dgm:cxn modelId="{A30D9F9D-5591-4B25-BEE5-1D4057A429A3}" type="presParOf" srcId="{08BF4875-DF48-4CA0-B05F-FBFC05248AFA}" destId="{3126BC87-87CE-4A22-8237-CD0C6D6DAF5C}" srcOrd="0" destOrd="0" presId="urn:microsoft.com/office/officeart/2005/8/layout/vList5"/>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98E713A-A002-4611-BDC8-775477CB89B0}" type="doc">
      <dgm:prSet loTypeId="urn:microsoft.com/office/officeart/2005/8/layout/vList5" loCatId="list" qsTypeId="urn:microsoft.com/office/officeart/2005/8/quickstyle/3d1" qsCatId="3D" csTypeId="urn:microsoft.com/office/officeart/2005/8/colors/colorful5" csCatId="colorful" phldr="1"/>
      <dgm:spPr/>
      <dgm:t>
        <a:bodyPr/>
        <a:lstStyle/>
        <a:p>
          <a:endParaRPr lang="en-US"/>
        </a:p>
      </dgm:t>
    </dgm:pt>
    <dgm:pt modelId="{B622F9AA-1B0C-46EA-BBD7-6652564E5A3F}">
      <dgm:prSet custT="1"/>
      <dgm:spPr/>
      <dgm:t>
        <a:bodyPr/>
        <a:lstStyle/>
        <a:p>
          <a:r>
            <a:rPr lang="en-US" sz="2000" b="1" dirty="0"/>
            <a:t>3. Regional Logistics Optimization:</a:t>
          </a:r>
          <a:r>
            <a:rPr lang="en-US" sz="2000" dirty="0"/>
            <a:t> Reallocate logistical resources or partner with localized fulfillment centers in Western Europe and Central America to decentralize distribution and reduce the transit time to end consumers.</a:t>
          </a:r>
        </a:p>
      </dgm:t>
    </dgm:pt>
    <dgm:pt modelId="{1B6B4DB1-1943-43D0-8AC6-0E4091E9ED61}" type="parTrans" cxnId="{52609A13-D7DE-4287-AE69-A3F7B566A834}">
      <dgm:prSet/>
      <dgm:spPr/>
      <dgm:t>
        <a:bodyPr/>
        <a:lstStyle/>
        <a:p>
          <a:endParaRPr lang="en-US"/>
        </a:p>
      </dgm:t>
    </dgm:pt>
    <dgm:pt modelId="{6E880EAE-18C0-44D5-B077-1865F5C28277}" type="sibTrans" cxnId="{52609A13-D7DE-4287-AE69-A3F7B566A834}">
      <dgm:prSet/>
      <dgm:spPr/>
      <dgm:t>
        <a:bodyPr/>
        <a:lstStyle/>
        <a:p>
          <a:endParaRPr lang="en-US"/>
        </a:p>
      </dgm:t>
    </dgm:pt>
    <dgm:pt modelId="{9AA75943-BAD5-43A9-BB1D-856080EC7B93}" type="pres">
      <dgm:prSet presAssocID="{B98E713A-A002-4611-BDC8-775477CB89B0}" presName="Name0" presStyleCnt="0">
        <dgm:presLayoutVars>
          <dgm:dir/>
          <dgm:animLvl val="lvl"/>
          <dgm:resizeHandles val="exact"/>
        </dgm:presLayoutVars>
      </dgm:prSet>
      <dgm:spPr/>
    </dgm:pt>
    <dgm:pt modelId="{679EB11E-F932-4B83-91B0-48A6C539F184}" type="pres">
      <dgm:prSet presAssocID="{B622F9AA-1B0C-46EA-BBD7-6652564E5A3F}" presName="linNode" presStyleCnt="0"/>
      <dgm:spPr/>
    </dgm:pt>
    <dgm:pt modelId="{144D3901-C858-4D91-BD08-44A3570F565E}" type="pres">
      <dgm:prSet presAssocID="{B622F9AA-1B0C-46EA-BBD7-6652564E5A3F}" presName="parentText" presStyleLbl="node1" presStyleIdx="0" presStyleCnt="1" custScaleX="90504" custScaleY="72600">
        <dgm:presLayoutVars>
          <dgm:chMax val="1"/>
          <dgm:bulletEnabled val="1"/>
        </dgm:presLayoutVars>
      </dgm:prSet>
      <dgm:spPr/>
    </dgm:pt>
  </dgm:ptLst>
  <dgm:cxnLst>
    <dgm:cxn modelId="{52609A13-D7DE-4287-AE69-A3F7B566A834}" srcId="{B98E713A-A002-4611-BDC8-775477CB89B0}" destId="{B622F9AA-1B0C-46EA-BBD7-6652564E5A3F}" srcOrd="0" destOrd="0" parTransId="{1B6B4DB1-1943-43D0-8AC6-0E4091E9ED61}" sibTransId="{6E880EAE-18C0-44D5-B077-1865F5C28277}"/>
    <dgm:cxn modelId="{E561BACF-5A8B-4821-AAD0-E01F77194FEF}" type="presOf" srcId="{B98E713A-A002-4611-BDC8-775477CB89B0}" destId="{9AA75943-BAD5-43A9-BB1D-856080EC7B93}" srcOrd="0" destOrd="0" presId="urn:microsoft.com/office/officeart/2005/8/layout/vList5"/>
    <dgm:cxn modelId="{AFB4D1D1-7334-4C87-85E2-70671B5B2587}" type="presOf" srcId="{B622F9AA-1B0C-46EA-BBD7-6652564E5A3F}" destId="{144D3901-C858-4D91-BD08-44A3570F565E}" srcOrd="0" destOrd="0" presId="urn:microsoft.com/office/officeart/2005/8/layout/vList5"/>
    <dgm:cxn modelId="{F8BDA256-55B7-4041-9521-6ABE5BC5D682}" type="presParOf" srcId="{9AA75943-BAD5-43A9-BB1D-856080EC7B93}" destId="{679EB11E-F932-4B83-91B0-48A6C539F184}" srcOrd="0" destOrd="0" presId="urn:microsoft.com/office/officeart/2005/8/layout/vList5"/>
    <dgm:cxn modelId="{9EA8E8F3-A03A-437F-930E-4AE5BB6B236E}" type="presParOf" srcId="{679EB11E-F932-4B83-91B0-48A6C539F184}" destId="{144D3901-C858-4D91-BD08-44A3570F565E}" srcOrd="0" destOrd="0" presId="urn:microsoft.com/office/officeart/2005/8/layout/vList5"/>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DDF76-C69C-4339-AE77-630E35283FCC}">
      <dsp:nvSpPr>
        <dsp:cNvPr id="0" name=""/>
        <dsp:cNvSpPr/>
      </dsp:nvSpPr>
      <dsp:spPr>
        <a:xfrm rot="16200000">
          <a:off x="-423374" y="424362"/>
          <a:ext cx="3416320" cy="2567595"/>
        </a:xfrm>
        <a:prstGeom prst="flowChartManualOperation">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256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2">
                  <a:lumMod val="10000"/>
                  <a:lumOff val="90000"/>
                </a:schemeClr>
              </a:solidFill>
            </a:rPr>
            <a:t>Critical Delivery Failures: Analysis revealed a staggering 36,048 orders failing to meet their scheduled delivery dates, directly impacting customer trust and brand reputation.</a:t>
          </a:r>
        </a:p>
      </dsp:txBody>
      <dsp:txXfrm rot="5400000">
        <a:off x="989" y="683263"/>
        <a:ext cx="2567595" cy="2049792"/>
      </dsp:txXfrm>
    </dsp:sp>
    <dsp:sp modelId="{6730DAC0-0E43-46E2-88A1-5DC3044CDDE3}">
      <dsp:nvSpPr>
        <dsp:cNvPr id="0" name=""/>
        <dsp:cNvSpPr/>
      </dsp:nvSpPr>
      <dsp:spPr>
        <a:xfrm rot="16200000">
          <a:off x="2336789" y="424362"/>
          <a:ext cx="3416320" cy="2567595"/>
        </a:xfrm>
        <a:prstGeom prst="flowChartManualOperation">
          <a:avLst/>
        </a:prstGeom>
        <a:solidFill>
          <a:schemeClr val="accent1">
            <a:shade val="80000"/>
            <a:hueOff val="272799"/>
            <a:satOff val="-28446"/>
            <a:lumOff val="1911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256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Severe Financial Impact (Revenue at Risk): These logistical bottlenecks have trapped approximately $20.1 Million in delayed transit. This represents a significant amount of capital tied up due to operational inefficiencies.</a:t>
          </a:r>
        </a:p>
      </dsp:txBody>
      <dsp:txXfrm rot="5400000">
        <a:off x="2761152" y="683263"/>
        <a:ext cx="2567595" cy="2049792"/>
      </dsp:txXfrm>
    </dsp:sp>
    <dsp:sp modelId="{603873CE-AC82-4713-9549-34CE59B1DD46}">
      <dsp:nvSpPr>
        <dsp:cNvPr id="0" name=""/>
        <dsp:cNvSpPr/>
      </dsp:nvSpPr>
      <dsp:spPr>
        <a:xfrm rot="16200000">
          <a:off x="5096954" y="424362"/>
          <a:ext cx="3416320" cy="2567595"/>
        </a:xfrm>
        <a:prstGeom prst="flowChartManualOperation">
          <a:avLst/>
        </a:prstGeom>
        <a:solidFill>
          <a:schemeClr val="accent1">
            <a:shade val="80000"/>
            <a:hueOff val="545598"/>
            <a:satOff val="-56892"/>
            <a:lumOff val="3822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160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2">
                  <a:lumMod val="90000"/>
                  <a:lumOff val="10000"/>
                </a:schemeClr>
              </a:solidFill>
            </a:rPr>
            <a:t>Customer Experience Degradation: The average delay duration across all delayed shipments is 1.62 days. In a competitive e-commerce landscape, this prolonged wait time significantly increases the risk of customer churn and negative reviews.</a:t>
          </a:r>
        </a:p>
      </dsp:txBody>
      <dsp:txXfrm rot="5400000">
        <a:off x="5521317" y="683263"/>
        <a:ext cx="2567595" cy="20497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E4C7B1-018C-42AE-B4D5-FECEDE988BD6}">
      <dsp:nvSpPr>
        <dsp:cNvPr id="0" name=""/>
        <dsp:cNvSpPr/>
      </dsp:nvSpPr>
      <dsp:spPr>
        <a:xfrm>
          <a:off x="0" y="1579"/>
          <a:ext cx="3733800" cy="1074060"/>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solidFill>
                <a:srgbClr val="0A0337"/>
              </a:solidFill>
            </a:rPr>
            <a:t>From Raw Data to Actionable Insights</a:t>
          </a:r>
        </a:p>
      </dsp:txBody>
      <dsp:txXfrm>
        <a:off x="52431" y="54010"/>
        <a:ext cx="3628938" cy="96919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691815-5E0E-4E45-86D1-AB8C71D2BCE6}">
      <dsp:nvSpPr>
        <dsp:cNvPr id="0" name=""/>
        <dsp:cNvSpPr/>
      </dsp:nvSpPr>
      <dsp:spPr>
        <a:xfrm>
          <a:off x="3549" y="0"/>
          <a:ext cx="4759225" cy="2031325"/>
        </a:xfrm>
        <a:prstGeom prst="roundRect">
          <a:avLst>
            <a:gd name="adj" fmla="val 10000"/>
          </a:avLst>
        </a:prstGeom>
        <a:gradFill rotWithShape="0">
          <a:gsLst>
            <a:gs pos="0">
              <a:schemeClr val="accent1">
                <a:alpha val="80000"/>
                <a:hueOff val="0"/>
                <a:satOff val="0"/>
                <a:lumOff val="0"/>
                <a:alphaOff val="0"/>
                <a:satMod val="103000"/>
                <a:lumMod val="102000"/>
                <a:tint val="94000"/>
              </a:schemeClr>
            </a:gs>
            <a:gs pos="50000">
              <a:schemeClr val="accent1">
                <a:alpha val="80000"/>
                <a:hueOff val="0"/>
                <a:satOff val="0"/>
                <a:lumOff val="0"/>
                <a:alphaOff val="0"/>
                <a:satMod val="110000"/>
                <a:lumMod val="100000"/>
                <a:shade val="100000"/>
              </a:schemeClr>
            </a:gs>
            <a:gs pos="100000">
              <a:schemeClr val="accent1">
                <a:alpha val="8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Data Engineering &amp; Analysis (SQL): Engineered complex queries to extract, clean, and manipulate massive raw transactional data. Calculated custom metrics such as exact delay durations (Actual vs. Scheduled shipping dates) and aggregated total financial risks.</a:t>
          </a:r>
        </a:p>
      </dsp:txBody>
      <dsp:txXfrm>
        <a:off x="63044" y="59495"/>
        <a:ext cx="4640235" cy="1912335"/>
      </dsp:txXfrm>
    </dsp:sp>
    <dsp:sp modelId="{E4A08A9C-EF54-40A2-9A71-2F5593C41FE0}">
      <dsp:nvSpPr>
        <dsp:cNvPr id="0" name=""/>
        <dsp:cNvSpPr/>
      </dsp:nvSpPr>
      <dsp:spPr>
        <a:xfrm>
          <a:off x="5562324" y="0"/>
          <a:ext cx="4759225" cy="2031325"/>
        </a:xfrm>
        <a:prstGeom prst="roundRect">
          <a:avLst>
            <a:gd name="adj" fmla="val 10000"/>
          </a:avLst>
        </a:prstGeom>
        <a:gradFill rotWithShape="0">
          <a:gsLst>
            <a:gs pos="0">
              <a:schemeClr val="accent1">
                <a:alpha val="80000"/>
                <a:hueOff val="0"/>
                <a:satOff val="0"/>
                <a:lumOff val="0"/>
                <a:alphaOff val="0"/>
                <a:satMod val="103000"/>
                <a:lumMod val="102000"/>
                <a:tint val="94000"/>
              </a:schemeClr>
            </a:gs>
            <a:gs pos="50000">
              <a:schemeClr val="accent1">
                <a:alpha val="80000"/>
                <a:hueOff val="0"/>
                <a:satOff val="0"/>
                <a:lumOff val="0"/>
                <a:alphaOff val="0"/>
                <a:satMod val="110000"/>
                <a:lumMod val="100000"/>
                <a:shade val="100000"/>
              </a:schemeClr>
            </a:gs>
            <a:gs pos="100000">
              <a:schemeClr val="accent1">
                <a:alpha val="8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Interactive Visualization (Tableau): Translated raw SQL outputs into a dynamic, interactive dashboard. Designed geographic heat maps, KPI cards, and trend lines to empower stakeholders to drill down into specific regions, shipping modes, and product categories for root-cause analysis.</a:t>
          </a:r>
        </a:p>
      </dsp:txBody>
      <dsp:txXfrm>
        <a:off x="5621819" y="59495"/>
        <a:ext cx="4640235" cy="19123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9DDF76-C69C-4339-AE77-630E35283FCC}">
      <dsp:nvSpPr>
        <dsp:cNvPr id="0" name=""/>
        <dsp:cNvSpPr/>
      </dsp:nvSpPr>
      <dsp:spPr>
        <a:xfrm rot="16200000">
          <a:off x="-423374" y="424362"/>
          <a:ext cx="3416320" cy="2567595"/>
        </a:xfrm>
        <a:prstGeom prst="flowChartManualOperation">
          <a:avLst/>
        </a:prstGeom>
        <a:solidFill>
          <a:schemeClr val="accent1">
            <a:shade val="8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256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2">
                  <a:lumMod val="10000"/>
                  <a:lumOff val="90000"/>
                </a:schemeClr>
              </a:solidFill>
            </a:rPr>
            <a:t>Critical Delivery Failures: Analysis revealed a staggering 36,048 orders failing to meet their scheduled delivery dates, directly impacting customer trust and brand reputation.</a:t>
          </a:r>
        </a:p>
      </dsp:txBody>
      <dsp:txXfrm rot="5400000">
        <a:off x="989" y="683263"/>
        <a:ext cx="2567595" cy="2049792"/>
      </dsp:txXfrm>
    </dsp:sp>
    <dsp:sp modelId="{6730DAC0-0E43-46E2-88A1-5DC3044CDDE3}">
      <dsp:nvSpPr>
        <dsp:cNvPr id="0" name=""/>
        <dsp:cNvSpPr/>
      </dsp:nvSpPr>
      <dsp:spPr>
        <a:xfrm rot="16200000">
          <a:off x="2336789" y="424362"/>
          <a:ext cx="3416320" cy="2567595"/>
        </a:xfrm>
        <a:prstGeom prst="flowChartManualOperation">
          <a:avLst/>
        </a:prstGeom>
        <a:solidFill>
          <a:schemeClr val="accent1">
            <a:shade val="80000"/>
            <a:hueOff val="272799"/>
            <a:satOff val="-28446"/>
            <a:lumOff val="1911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256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Severe Financial Impact (Revenue at Risk): These logistical bottlenecks have trapped approximately $20.1 Million in delayed transit. This represents a significant amount of capital tied up due to operational inefficiencies.</a:t>
          </a:r>
        </a:p>
      </dsp:txBody>
      <dsp:txXfrm rot="5400000">
        <a:off x="2761152" y="683263"/>
        <a:ext cx="2567595" cy="2049792"/>
      </dsp:txXfrm>
    </dsp:sp>
    <dsp:sp modelId="{603873CE-AC82-4713-9549-34CE59B1DD46}">
      <dsp:nvSpPr>
        <dsp:cNvPr id="0" name=""/>
        <dsp:cNvSpPr/>
      </dsp:nvSpPr>
      <dsp:spPr>
        <a:xfrm rot="16200000">
          <a:off x="5096954" y="424362"/>
          <a:ext cx="3416320" cy="2567595"/>
        </a:xfrm>
        <a:prstGeom prst="flowChartManualOperation">
          <a:avLst/>
        </a:prstGeom>
        <a:solidFill>
          <a:schemeClr val="accent1">
            <a:shade val="80000"/>
            <a:hueOff val="545598"/>
            <a:satOff val="-56892"/>
            <a:lumOff val="3822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101600" tIns="0" rIns="101600" bIns="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tx2">
                  <a:lumMod val="90000"/>
                  <a:lumOff val="10000"/>
                </a:schemeClr>
              </a:solidFill>
            </a:rPr>
            <a:t>Customer Experience Degradation: The average delay duration across all delayed shipments is 1.62 days. In a competitive e-commerce landscape, this prolonged wait time significantly increases the risk of customer churn and negative reviews.</a:t>
          </a:r>
        </a:p>
      </dsp:txBody>
      <dsp:txXfrm rot="5400000">
        <a:off x="5521317" y="683263"/>
        <a:ext cx="2567595" cy="204979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F366EF-5AB3-4DC5-94C3-16E17F40BF28}">
      <dsp:nvSpPr>
        <dsp:cNvPr id="0" name=""/>
        <dsp:cNvSpPr/>
      </dsp:nvSpPr>
      <dsp:spPr>
        <a:xfrm>
          <a:off x="0" y="9851"/>
          <a:ext cx="3263900" cy="636480"/>
        </a:xfrm>
        <a:prstGeom prst="roundRect">
          <a:avLst/>
        </a:prstGeom>
        <a:solidFill>
          <a:schemeClr val="accent3">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dirty="0"/>
            <a:t>Key Findings: Uncovering the Root Causes</a:t>
          </a:r>
        </a:p>
      </dsp:txBody>
      <dsp:txXfrm>
        <a:off x="31070" y="40921"/>
        <a:ext cx="3201760" cy="5743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556911-D8D5-406B-8083-AA387A0F3B7A}">
      <dsp:nvSpPr>
        <dsp:cNvPr id="0" name=""/>
        <dsp:cNvSpPr/>
      </dsp:nvSpPr>
      <dsp:spPr>
        <a:xfrm rot="5400000">
          <a:off x="3917462" y="1929485"/>
          <a:ext cx="1706463" cy="1942748"/>
        </a:xfrm>
        <a:prstGeom prst="bentUpArrow">
          <a:avLst>
            <a:gd name="adj1" fmla="val 32840"/>
            <a:gd name="adj2" fmla="val 25000"/>
            <a:gd name="adj3" fmla="val 35780"/>
          </a:avLst>
        </a:prstGeom>
        <a:gradFill rotWithShape="0">
          <a:gsLst>
            <a:gs pos="0">
              <a:schemeClr val="accent3">
                <a:tint val="50000"/>
                <a:hueOff val="0"/>
                <a:satOff val="0"/>
                <a:lumOff val="0"/>
                <a:alphaOff val="0"/>
                <a:satMod val="103000"/>
                <a:lumMod val="102000"/>
                <a:tint val="94000"/>
              </a:schemeClr>
            </a:gs>
            <a:gs pos="50000">
              <a:schemeClr val="accent3">
                <a:tint val="50000"/>
                <a:hueOff val="0"/>
                <a:satOff val="0"/>
                <a:lumOff val="0"/>
                <a:alphaOff val="0"/>
                <a:satMod val="110000"/>
                <a:lumMod val="100000"/>
                <a:shade val="100000"/>
              </a:schemeClr>
            </a:gs>
            <a:gs pos="100000">
              <a:schemeClr val="accent3">
                <a:tint val="50000"/>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6E3938FF-9D95-49AF-BB2A-D809ECD9177E}">
      <dsp:nvSpPr>
        <dsp:cNvPr id="0" name=""/>
        <dsp:cNvSpPr/>
      </dsp:nvSpPr>
      <dsp:spPr>
        <a:xfrm>
          <a:off x="3465353" y="37836"/>
          <a:ext cx="2872679" cy="2010782"/>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1" kern="1200" dirty="0">
              <a:solidFill>
                <a:schemeClr val="bg1"/>
              </a:solidFill>
            </a:rPr>
            <a:t>The Shipping Mode Paradox: While "Standard Class" accounts for the highest volume of delayed orders (nearly 15,000), "Second Class" shipping is operationally the most inefficient, recording the longest average delay of 2.5 days per order.</a:t>
          </a:r>
        </a:p>
      </dsp:txBody>
      <dsp:txXfrm>
        <a:off x="3563529" y="136012"/>
        <a:ext cx="2676327" cy="1814430"/>
      </dsp:txXfrm>
    </dsp:sp>
    <dsp:sp modelId="{22C2B552-7555-486E-9144-437CC190EB89}">
      <dsp:nvSpPr>
        <dsp:cNvPr id="0" name=""/>
        <dsp:cNvSpPr/>
      </dsp:nvSpPr>
      <dsp:spPr>
        <a:xfrm>
          <a:off x="6338033" y="229610"/>
          <a:ext cx="2089313" cy="1625203"/>
        </a:xfrm>
        <a:prstGeom prst="rect">
          <a:avLst/>
        </a:prstGeom>
        <a:noFill/>
        <a:ln>
          <a:noFill/>
        </a:ln>
        <a:effectLst/>
      </dsp:spPr>
      <dsp:style>
        <a:lnRef idx="0">
          <a:scrgbClr r="0" g="0" b="0"/>
        </a:lnRef>
        <a:fillRef idx="0">
          <a:scrgbClr r="0" g="0" b="0"/>
        </a:fillRef>
        <a:effectRef idx="0">
          <a:scrgbClr r="0" g="0" b="0"/>
        </a:effectRef>
        <a:fontRef idx="minor"/>
      </dsp:style>
    </dsp:sp>
    <dsp:sp modelId="{BEBC738A-D759-4430-9ED7-24CE0505370E}">
      <dsp:nvSpPr>
        <dsp:cNvPr id="0" name=""/>
        <dsp:cNvSpPr/>
      </dsp:nvSpPr>
      <dsp:spPr>
        <a:xfrm rot="5400000">
          <a:off x="6299219" y="4188257"/>
          <a:ext cx="1706463" cy="1942748"/>
        </a:xfrm>
        <a:prstGeom prst="bentUpArrow">
          <a:avLst>
            <a:gd name="adj1" fmla="val 32840"/>
            <a:gd name="adj2" fmla="val 25000"/>
            <a:gd name="adj3" fmla="val 35780"/>
          </a:avLst>
        </a:prstGeom>
        <a:gradFill rotWithShape="0">
          <a:gsLst>
            <a:gs pos="0">
              <a:schemeClr val="accent3">
                <a:tint val="50000"/>
                <a:hueOff val="5107787"/>
                <a:satOff val="42252"/>
                <a:lumOff val="17820"/>
                <a:alphaOff val="0"/>
                <a:satMod val="103000"/>
                <a:lumMod val="102000"/>
                <a:tint val="94000"/>
              </a:schemeClr>
            </a:gs>
            <a:gs pos="50000">
              <a:schemeClr val="accent3">
                <a:tint val="50000"/>
                <a:hueOff val="5107787"/>
                <a:satOff val="42252"/>
                <a:lumOff val="17820"/>
                <a:alphaOff val="0"/>
                <a:satMod val="110000"/>
                <a:lumMod val="100000"/>
                <a:shade val="100000"/>
              </a:schemeClr>
            </a:gs>
            <a:gs pos="100000">
              <a:schemeClr val="accent3">
                <a:tint val="50000"/>
                <a:hueOff val="5107787"/>
                <a:satOff val="42252"/>
                <a:lumOff val="17820"/>
                <a:alphaOff val="0"/>
                <a:lumMod val="99000"/>
                <a:satMod val="120000"/>
                <a:shade val="78000"/>
              </a:schemeClr>
            </a:gs>
          </a:gsLst>
          <a:lin ang="5400000" scaled="0"/>
        </a:gradFill>
        <a:ln>
          <a:noFill/>
        </a:ln>
        <a:effectLst/>
        <a:scene3d>
          <a:camera prst="orthographicFront"/>
          <a:lightRig rig="flat" dir="t"/>
        </a:scene3d>
        <a:sp3d prstMaterial="plastic">
          <a:bevelT w="88900" h="88900"/>
          <a:bevelB w="88900" h="31750" prst="angle"/>
        </a:sp3d>
      </dsp:spPr>
      <dsp:style>
        <a:lnRef idx="0">
          <a:scrgbClr r="0" g="0" b="0"/>
        </a:lnRef>
        <a:fillRef idx="3">
          <a:scrgbClr r="0" g="0" b="0"/>
        </a:fillRef>
        <a:effectRef idx="2">
          <a:scrgbClr r="0" g="0" b="0"/>
        </a:effectRef>
        <a:fontRef idx="minor"/>
      </dsp:style>
    </dsp:sp>
    <dsp:sp modelId="{E6061EB5-9997-4AEC-A2DB-0D5A29511119}">
      <dsp:nvSpPr>
        <dsp:cNvPr id="0" name=""/>
        <dsp:cNvSpPr/>
      </dsp:nvSpPr>
      <dsp:spPr>
        <a:xfrm>
          <a:off x="5847110" y="2296608"/>
          <a:ext cx="2872679" cy="2010782"/>
        </a:xfrm>
        <a:prstGeom prst="roundRect">
          <a:avLst>
            <a:gd name="adj" fmla="val 1667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rgbClr val="0A0337"/>
              </a:solidFill>
            </a:rPr>
            <a:t>Product-Level Vulnerability: The "Cleats" and "Men's Footwear" categories are experiencing severe supply chain distress, leading the chart with over 11,200 delayed shipments. This indicates a potential vendor or warehouse-specific bottleneck.</a:t>
          </a:r>
        </a:p>
      </dsp:txBody>
      <dsp:txXfrm>
        <a:off x="5945286" y="2394784"/>
        <a:ext cx="2676327" cy="1814430"/>
      </dsp:txXfrm>
    </dsp:sp>
    <dsp:sp modelId="{1F2100C0-AB37-4782-892A-7775453A6910}">
      <dsp:nvSpPr>
        <dsp:cNvPr id="0" name=""/>
        <dsp:cNvSpPr/>
      </dsp:nvSpPr>
      <dsp:spPr>
        <a:xfrm>
          <a:off x="8719789" y="2488382"/>
          <a:ext cx="2089313" cy="1625203"/>
        </a:xfrm>
        <a:prstGeom prst="rect">
          <a:avLst/>
        </a:prstGeom>
        <a:noFill/>
        <a:ln>
          <a:noFill/>
        </a:ln>
        <a:effectLst/>
      </dsp:spPr>
      <dsp:style>
        <a:lnRef idx="0">
          <a:scrgbClr r="0" g="0" b="0"/>
        </a:lnRef>
        <a:fillRef idx="0">
          <a:scrgbClr r="0" g="0" b="0"/>
        </a:fillRef>
        <a:effectRef idx="0">
          <a:scrgbClr r="0" g="0" b="0"/>
        </a:effectRef>
        <a:fontRef idx="minor"/>
      </dsp:style>
    </dsp:sp>
    <dsp:sp modelId="{BC480D10-D86B-438B-9C36-FAC24D6E923B}">
      <dsp:nvSpPr>
        <dsp:cNvPr id="0" name=""/>
        <dsp:cNvSpPr/>
      </dsp:nvSpPr>
      <dsp:spPr>
        <a:xfrm>
          <a:off x="8228866" y="4555381"/>
          <a:ext cx="2872679" cy="2010782"/>
        </a:xfrm>
        <a:prstGeom prst="roundRect">
          <a:avLst>
            <a:gd name="adj" fmla="val 1667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Geographical Risk Zones: Geographic mapping exposes Western Europe and Central America as the primary operational pain points, indicating regional logistical failures or carrier underperformance in these specific territories.</a:t>
          </a:r>
        </a:p>
      </dsp:txBody>
      <dsp:txXfrm>
        <a:off x="8327042" y="4653557"/>
        <a:ext cx="2676327" cy="181443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6E664E-B8CF-4A9E-9FC1-DE64A89FC239}">
      <dsp:nvSpPr>
        <dsp:cNvPr id="0" name=""/>
        <dsp:cNvSpPr/>
      </dsp:nvSpPr>
      <dsp:spPr>
        <a:xfrm>
          <a:off x="2759455" y="2014"/>
          <a:ext cx="3104388" cy="4122676"/>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1. Carrier Renegotiation &amp; SLA Enforcement:</a:t>
          </a:r>
          <a:r>
            <a:rPr lang="en-US" sz="2000" kern="1200" dirty="0"/>
            <a:t> Immediately review Service Level Agreements (SLAs) with carriers handling "Second Class" shipping. Enforce stricter penalties for delays or transition to more reliable third-party logistics (3PL) providers for this tier.</a:t>
          </a:r>
        </a:p>
      </dsp:txBody>
      <dsp:txXfrm>
        <a:off x="2910999" y="153558"/>
        <a:ext cx="2801300" cy="381958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6BC87-87CE-4A22-8237-CD0C6D6DAF5C}">
      <dsp:nvSpPr>
        <dsp:cNvPr id="0" name=""/>
        <dsp:cNvSpPr/>
      </dsp:nvSpPr>
      <dsp:spPr>
        <a:xfrm>
          <a:off x="2565398" y="449587"/>
          <a:ext cx="2616202" cy="4015725"/>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2. Supply Chain Audit for High-Risk Categories:</a:t>
          </a:r>
          <a:r>
            <a:rPr lang="en-US" sz="2000" kern="1200" dirty="0"/>
            <a:t> Conduct an urgent inventory and fulfillment audit for the "Cleats" department. Assess warehouse picking processes and supplier lead times to eliminate internal fulfillment bottlenecks.</a:t>
          </a:r>
        </a:p>
      </dsp:txBody>
      <dsp:txXfrm>
        <a:off x="2693110" y="577299"/>
        <a:ext cx="2360778" cy="37603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4D3901-C858-4D91-BD08-44A3570F565E}">
      <dsp:nvSpPr>
        <dsp:cNvPr id="0" name=""/>
        <dsp:cNvSpPr/>
      </dsp:nvSpPr>
      <dsp:spPr>
        <a:xfrm>
          <a:off x="3202246" y="710335"/>
          <a:ext cx="3095106" cy="3764262"/>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76200" tIns="38100" rIns="76200" bIns="38100" numCol="1" spcCol="1270" anchor="ctr" anchorCtr="0">
          <a:noAutofit/>
        </a:bodyPr>
        <a:lstStyle/>
        <a:p>
          <a:pPr marL="0" lvl="0" indent="0" algn="ctr" defTabSz="889000">
            <a:lnSpc>
              <a:spcPct val="90000"/>
            </a:lnSpc>
            <a:spcBef>
              <a:spcPct val="0"/>
            </a:spcBef>
            <a:spcAft>
              <a:spcPct val="35000"/>
            </a:spcAft>
            <a:buNone/>
          </a:pPr>
          <a:r>
            <a:rPr lang="en-US" sz="2000" b="1" kern="1200" dirty="0"/>
            <a:t>3. Regional Logistics Optimization:</a:t>
          </a:r>
          <a:r>
            <a:rPr lang="en-US" sz="2000" kern="1200" dirty="0"/>
            <a:t> Reallocate logistical resources or partner with localized fulfillment centers in Western Europe and Central America to decentralize distribution and reduce the transit time to end consumers.</a:t>
          </a:r>
        </a:p>
      </dsp:txBody>
      <dsp:txXfrm>
        <a:off x="3353337" y="861426"/>
        <a:ext cx="2792924" cy="3462080"/>
      </dsp:txXfrm>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3CBAE-F6B2-3389-816B-30B77A4B99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3B760C-CDCD-6050-724F-CE67897686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00CB61C-33CB-8F18-6910-5C87E67C3154}"/>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5" name="Footer Placeholder 4">
            <a:extLst>
              <a:ext uri="{FF2B5EF4-FFF2-40B4-BE49-F238E27FC236}">
                <a16:creationId xmlns:a16="http://schemas.microsoft.com/office/drawing/2014/main" id="{8B36D306-2A5C-9373-9F66-F36C6F9390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D0A0F0-B7B0-7411-CF61-C3547FECB004}"/>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2024062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4F21B-F3E0-0982-4134-20593FD9F8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F6E549C-641D-379A-B176-82FB1994D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BE7F3-F048-1EBC-7A64-16E2A82D019D}"/>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5" name="Footer Placeholder 4">
            <a:extLst>
              <a:ext uri="{FF2B5EF4-FFF2-40B4-BE49-F238E27FC236}">
                <a16:creationId xmlns:a16="http://schemas.microsoft.com/office/drawing/2014/main" id="{9DEE9B55-857F-02F7-1536-CE8BBB2AA9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B7B7B-A4FA-FCCA-B1CC-AABBB790E9E3}"/>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648919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DB30E-75B9-E78F-7140-4CB0C40DAC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5F830B-68C8-5F2C-DC48-9286D8D1C5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DFA8BF3-5104-A61B-4349-F27A508328FA}"/>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5" name="Footer Placeholder 4">
            <a:extLst>
              <a:ext uri="{FF2B5EF4-FFF2-40B4-BE49-F238E27FC236}">
                <a16:creationId xmlns:a16="http://schemas.microsoft.com/office/drawing/2014/main" id="{AA10207D-4B0F-5EF7-45DE-3E8A50205D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A7FA7-1CF7-746F-96C8-83027FC4F62C}"/>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4252004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BAB82-B023-53B4-56F8-E039AEAE77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634B5E-0F6C-9A3D-5EEF-FCF4C1D244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306D99-ACE6-FD9D-63C5-219D6C243B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2D9CE8-A4B1-5041-9744-65FB05588791}"/>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6" name="Footer Placeholder 5">
            <a:extLst>
              <a:ext uri="{FF2B5EF4-FFF2-40B4-BE49-F238E27FC236}">
                <a16:creationId xmlns:a16="http://schemas.microsoft.com/office/drawing/2014/main" id="{5483C2CC-5913-B52D-B9F8-F9BE45195A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F7C70E-9CA1-B57D-D8E2-924057A2DC8E}"/>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3343039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D70B8-26EB-0587-E532-22A98E36C51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E2148E-3794-B5E2-0F18-D23C488BA9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7C4DBE-1BA2-7A2B-23FA-7B1250EB45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5C2B63A-1E16-E614-F8E2-A05146A918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76F2E2-FBB0-7526-BA65-24BF413D4C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94F5D0-3E9C-A457-9177-DBAE241373E3}"/>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8" name="Footer Placeholder 7">
            <a:extLst>
              <a:ext uri="{FF2B5EF4-FFF2-40B4-BE49-F238E27FC236}">
                <a16:creationId xmlns:a16="http://schemas.microsoft.com/office/drawing/2014/main" id="{2A022569-4ABD-7720-A306-B70C77EC75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2366BE-17B6-DEB2-280A-0778F8677BA8}"/>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39675530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A83F2-992B-A4EF-1E8A-C8BA77FF4EC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4720A8B-388A-DF60-1C32-166906C3FC12}"/>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4" name="Footer Placeholder 3">
            <a:extLst>
              <a:ext uri="{FF2B5EF4-FFF2-40B4-BE49-F238E27FC236}">
                <a16:creationId xmlns:a16="http://schemas.microsoft.com/office/drawing/2014/main" id="{5397868F-308A-D594-7A89-CA1D133F1A6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BCD3C8D-7793-8D64-4729-1A1023F16007}"/>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318051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B61BA1-D073-AEB6-5252-4218648DF26A}"/>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3" name="Footer Placeholder 2">
            <a:extLst>
              <a:ext uri="{FF2B5EF4-FFF2-40B4-BE49-F238E27FC236}">
                <a16:creationId xmlns:a16="http://schemas.microsoft.com/office/drawing/2014/main" id="{B4EC9977-BC0E-9A04-8C29-B454B26F465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30B8C2E-56CF-B80F-B64E-CFC14DCEC8D1}"/>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3384932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CDC17-7C38-7FE6-5AEC-266CD3C941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107719-7C09-95EC-3D10-300BE51790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6893D0-A1B6-F373-C16F-7B38C1F383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9883E1-560B-9BFA-76AE-082310D455DD}"/>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6" name="Footer Placeholder 5">
            <a:extLst>
              <a:ext uri="{FF2B5EF4-FFF2-40B4-BE49-F238E27FC236}">
                <a16:creationId xmlns:a16="http://schemas.microsoft.com/office/drawing/2014/main" id="{15C1A909-69D2-CB36-8AD9-7D809FF10E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F1E78B-4302-82AB-CB51-043285F6C571}"/>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2535838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8F095-11BA-4053-77DC-AA762474D3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EF18978-5C4C-0E97-9DF8-2AFF0B8E30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0D36431-68A1-3252-39E1-534455B982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F6B739-160C-FAEA-D271-4F9835FEA68A}"/>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6" name="Footer Placeholder 5">
            <a:extLst>
              <a:ext uri="{FF2B5EF4-FFF2-40B4-BE49-F238E27FC236}">
                <a16:creationId xmlns:a16="http://schemas.microsoft.com/office/drawing/2014/main" id="{92225E8D-726D-26EC-47F4-9197BB04D0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013E7E-5D94-0C4C-A916-B93DD7FA29E0}"/>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307470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EB050-6326-1A96-8307-B34678D231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7D6B4F-8298-6A4F-CBEC-95FE2967DC0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EFF572-C671-5BC6-7BCB-2F48214EE4CD}"/>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5" name="Footer Placeholder 4">
            <a:extLst>
              <a:ext uri="{FF2B5EF4-FFF2-40B4-BE49-F238E27FC236}">
                <a16:creationId xmlns:a16="http://schemas.microsoft.com/office/drawing/2014/main" id="{E6EB25E8-DB2D-C99B-D0E9-59FE898560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E317F7-52C0-9FBD-EF1C-76B7D1DA180B}"/>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833498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E44F43-D02B-8E21-3B7D-9C5119563D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AA09D32-810E-81B2-5D70-75F720F088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01CBAA-FB69-A370-DF20-67CC97BADF47}"/>
              </a:ext>
            </a:extLst>
          </p:cNvPr>
          <p:cNvSpPr>
            <a:spLocks noGrp="1"/>
          </p:cNvSpPr>
          <p:nvPr>
            <p:ph type="dt" sz="half" idx="10"/>
          </p:nvPr>
        </p:nvSpPr>
        <p:spPr/>
        <p:txBody>
          <a:bodyPr/>
          <a:lstStyle/>
          <a:p>
            <a:fld id="{05094358-3F13-4D72-8FEC-69AC64135541}" type="datetimeFigureOut">
              <a:rPr lang="en-US" smtClean="0"/>
              <a:t>3/12/2026</a:t>
            </a:fld>
            <a:endParaRPr lang="en-US"/>
          </a:p>
        </p:txBody>
      </p:sp>
      <p:sp>
        <p:nvSpPr>
          <p:cNvPr id="5" name="Footer Placeholder 4">
            <a:extLst>
              <a:ext uri="{FF2B5EF4-FFF2-40B4-BE49-F238E27FC236}">
                <a16:creationId xmlns:a16="http://schemas.microsoft.com/office/drawing/2014/main" id="{64B7392A-F37A-A90C-B95E-D7A5CA44F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36AD6A4-5395-F716-8E0A-6681B4622975}"/>
              </a:ext>
            </a:extLst>
          </p:cNvPr>
          <p:cNvSpPr>
            <a:spLocks noGrp="1"/>
          </p:cNvSpPr>
          <p:nvPr>
            <p:ph type="sldNum" sz="quarter" idx="12"/>
          </p:nvPr>
        </p:nvSpPr>
        <p:spPr/>
        <p:txBody>
          <a:bodyPr/>
          <a:lstStyle/>
          <a:p>
            <a:fld id="{C6379ADD-A882-4995-BD4B-956FF4ED31B8}" type="slidenum">
              <a:rPr lang="en-US" smtClean="0"/>
              <a:t>‹#›</a:t>
            </a:fld>
            <a:endParaRPr lang="en-US"/>
          </a:p>
        </p:txBody>
      </p:sp>
    </p:spTree>
    <p:extLst>
      <p:ext uri="{BB962C8B-B14F-4D97-AF65-F5344CB8AC3E}">
        <p14:creationId xmlns:p14="http://schemas.microsoft.com/office/powerpoint/2010/main" val="2536310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B2CD82-CCE7-3B81-6F89-027767E7FE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F54012-8632-A99A-422F-F3827252D1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7BE77C-681F-13DD-0ADA-AB9F14E1BA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094358-3F13-4D72-8FEC-69AC64135541}" type="datetimeFigureOut">
              <a:rPr lang="en-US" smtClean="0"/>
              <a:t>3/12/2026</a:t>
            </a:fld>
            <a:endParaRPr lang="en-US"/>
          </a:p>
        </p:txBody>
      </p:sp>
      <p:sp>
        <p:nvSpPr>
          <p:cNvPr id="5" name="Footer Placeholder 4">
            <a:extLst>
              <a:ext uri="{FF2B5EF4-FFF2-40B4-BE49-F238E27FC236}">
                <a16:creationId xmlns:a16="http://schemas.microsoft.com/office/drawing/2014/main" id="{90D0756A-59EB-A518-BE1C-58778DB2B2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570E04-A47A-7D23-B787-D00FB4919C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6379ADD-A882-4995-BD4B-956FF4ED31B8}" type="slidenum">
              <a:rPr lang="en-US" smtClean="0"/>
              <a:t>‹#›</a:t>
            </a:fld>
            <a:endParaRPr lang="en-US"/>
          </a:p>
        </p:txBody>
      </p:sp>
    </p:spTree>
    <p:extLst>
      <p:ext uri="{BB962C8B-B14F-4D97-AF65-F5344CB8AC3E}">
        <p14:creationId xmlns:p14="http://schemas.microsoft.com/office/powerpoint/2010/main" val="3219754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3.xml"/><Relationship Id="rId13" Type="http://schemas.openxmlformats.org/officeDocument/2006/relationships/diagramData" Target="../diagrams/data4.xml"/><Relationship Id="rId18" Type="http://schemas.openxmlformats.org/officeDocument/2006/relationships/image" Target="../media/image4.png"/><Relationship Id="rId3" Type="http://schemas.openxmlformats.org/officeDocument/2006/relationships/diagramData" Target="../diagrams/data2.xml"/><Relationship Id="rId21" Type="http://schemas.openxmlformats.org/officeDocument/2006/relationships/image" Target="../media/image7.png"/><Relationship Id="rId7" Type="http://schemas.microsoft.com/office/2007/relationships/diagramDrawing" Target="../diagrams/drawing2.xml"/><Relationship Id="rId12" Type="http://schemas.microsoft.com/office/2007/relationships/diagramDrawing" Target="../diagrams/drawing3.xml"/><Relationship Id="rId17" Type="http://schemas.microsoft.com/office/2007/relationships/diagramDrawing" Target="../diagrams/drawing4.xml"/><Relationship Id="rId2" Type="http://schemas.openxmlformats.org/officeDocument/2006/relationships/image" Target="../media/image3.png"/><Relationship Id="rId16" Type="http://schemas.openxmlformats.org/officeDocument/2006/relationships/diagramColors" Target="../diagrams/colors4.xml"/><Relationship Id="rId20"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5" Type="http://schemas.openxmlformats.org/officeDocument/2006/relationships/diagramQuickStyle" Target="../diagrams/quickStyle4.xml"/><Relationship Id="rId10" Type="http://schemas.openxmlformats.org/officeDocument/2006/relationships/diagramQuickStyle" Target="../diagrams/quickStyle3.xml"/><Relationship Id="rId19" Type="http://schemas.openxmlformats.org/officeDocument/2006/relationships/image" Target="../media/image5.png"/><Relationship Id="rId4" Type="http://schemas.openxmlformats.org/officeDocument/2006/relationships/diagramLayout" Target="../diagrams/layout2.xml"/><Relationship Id="rId9" Type="http://schemas.openxmlformats.org/officeDocument/2006/relationships/diagramLayout" Target="../diagrams/layout3.xml"/><Relationship Id="rId14" Type="http://schemas.openxmlformats.org/officeDocument/2006/relationships/diagramLayout" Target="../diagrams/layout4.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8.xml"/><Relationship Id="rId13" Type="http://schemas.openxmlformats.org/officeDocument/2006/relationships/diagramData" Target="../diagrams/data9.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17" Type="http://schemas.microsoft.com/office/2007/relationships/diagramDrawing" Target="../diagrams/drawing9.xml"/><Relationship Id="rId2" Type="http://schemas.openxmlformats.org/officeDocument/2006/relationships/image" Target="../media/image9.jpg"/><Relationship Id="rId16" Type="http://schemas.openxmlformats.org/officeDocument/2006/relationships/diagramColors" Target="../diagrams/colors9.xml"/><Relationship Id="rId1" Type="http://schemas.openxmlformats.org/officeDocument/2006/relationships/slideLayout" Target="../slideLayouts/slideLayout2.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5" Type="http://schemas.openxmlformats.org/officeDocument/2006/relationships/diagramQuickStyle" Target="../diagrams/quickStyle9.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 Id="rId14" Type="http://schemas.openxmlformats.org/officeDocument/2006/relationships/diagramLayout" Target="../diagrams/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map of the world&#10;&#10;AI-generated content may be incorrect.">
            <a:extLst>
              <a:ext uri="{FF2B5EF4-FFF2-40B4-BE49-F238E27FC236}">
                <a16:creationId xmlns:a16="http://schemas.microsoft.com/office/drawing/2014/main" id="{EF1D2907-FDAF-0C43-1024-5E5DB40151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Rectangle: Rounded Corners 7">
            <a:extLst>
              <a:ext uri="{FF2B5EF4-FFF2-40B4-BE49-F238E27FC236}">
                <a16:creationId xmlns:a16="http://schemas.microsoft.com/office/drawing/2014/main" id="{B9C5B3CD-A2C6-BA37-2075-853A91EA7F48}"/>
              </a:ext>
            </a:extLst>
          </p:cNvPr>
          <p:cNvSpPr/>
          <p:nvPr/>
        </p:nvSpPr>
        <p:spPr>
          <a:xfrm>
            <a:off x="747132" y="0"/>
            <a:ext cx="10571357" cy="568712"/>
          </a:xfrm>
          <a:prstGeom prst="roundRect">
            <a:avLst>
              <a:gd name="adj" fmla="val 50000"/>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3200" dirty="0">
                <a:solidFill>
                  <a:schemeClr val="tx2">
                    <a:lumMod val="10000"/>
                    <a:lumOff val="90000"/>
                  </a:schemeClr>
                </a:solidFill>
              </a:rPr>
              <a:t>Smart Supply Chain: Delivery Performance Analysis</a:t>
            </a:r>
          </a:p>
        </p:txBody>
      </p:sp>
      <p:sp>
        <p:nvSpPr>
          <p:cNvPr id="9" name="Rectangle: Rounded Corners 8">
            <a:extLst>
              <a:ext uri="{FF2B5EF4-FFF2-40B4-BE49-F238E27FC236}">
                <a16:creationId xmlns:a16="http://schemas.microsoft.com/office/drawing/2014/main" id="{A02D99FF-CB23-34E3-CF6E-5E7B0E64CD8C}"/>
              </a:ext>
            </a:extLst>
          </p:cNvPr>
          <p:cNvSpPr/>
          <p:nvPr/>
        </p:nvSpPr>
        <p:spPr>
          <a:xfrm>
            <a:off x="8842917" y="691376"/>
            <a:ext cx="3267307" cy="1003609"/>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2000" dirty="0">
                <a:solidFill>
                  <a:schemeClr val="tx2">
                    <a:lumMod val="10000"/>
                    <a:lumOff val="90000"/>
                  </a:schemeClr>
                </a:solidFill>
              </a:rPr>
              <a:t>Data-Driven Insights to Reduce Delays &amp; Recover Revenue</a:t>
            </a:r>
          </a:p>
        </p:txBody>
      </p:sp>
      <p:sp>
        <p:nvSpPr>
          <p:cNvPr id="10" name="Rectangle: Rounded Corners 9">
            <a:extLst>
              <a:ext uri="{FF2B5EF4-FFF2-40B4-BE49-F238E27FC236}">
                <a16:creationId xmlns:a16="http://schemas.microsoft.com/office/drawing/2014/main" id="{49B796DB-CE32-D5BE-845C-7506C5E2EA4B}"/>
              </a:ext>
            </a:extLst>
          </p:cNvPr>
          <p:cNvSpPr/>
          <p:nvPr/>
        </p:nvSpPr>
        <p:spPr>
          <a:xfrm>
            <a:off x="178420" y="4393580"/>
            <a:ext cx="3289609" cy="1572322"/>
          </a:xfrm>
          <a:prstGeom prst="round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r>
              <a:rPr lang="en-US" sz="2800" dirty="0">
                <a:solidFill>
                  <a:schemeClr val="tx2">
                    <a:lumMod val="10000"/>
                    <a:lumOff val="90000"/>
                  </a:schemeClr>
                </a:solidFill>
              </a:rPr>
              <a:t>Hassan Ali Hassan</a:t>
            </a:r>
          </a:p>
        </p:txBody>
      </p:sp>
    </p:spTree>
    <p:extLst>
      <p:ext uri="{BB962C8B-B14F-4D97-AF65-F5344CB8AC3E}">
        <p14:creationId xmlns:p14="http://schemas.microsoft.com/office/powerpoint/2010/main" val="112754568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delivery person loading boxes into a van&#10;&#10;AI-generated content may be incorrect.">
            <a:extLst>
              <a:ext uri="{FF2B5EF4-FFF2-40B4-BE49-F238E27FC236}">
                <a16:creationId xmlns:a16="http://schemas.microsoft.com/office/drawing/2014/main" id="{77D4E20B-8C16-A632-BC81-CDFAF0937D81}"/>
              </a:ext>
            </a:extLst>
          </p:cNvPr>
          <p:cNvPicPr>
            <a:picLocks noChangeAspect="1"/>
          </p:cNvPicPr>
          <p:nvPr/>
        </p:nvPicPr>
        <p:blipFill>
          <a:blip r:embed="rId2">
            <a:extLst>
              <a:ext uri="{28A0092B-C50C-407E-A947-70E740481C1C}">
                <a14:useLocalDpi xmlns:a14="http://schemas.microsoft.com/office/drawing/2010/main" val="0"/>
              </a:ext>
            </a:extLst>
          </a:blip>
          <a:srcRect l="5686" r="6279"/>
          <a:stretch/>
        </p:blipFill>
        <p:spPr>
          <a:xfrm>
            <a:off x="0" y="0"/>
            <a:ext cx="12192000" cy="6874031"/>
          </a:xfrm>
          <a:prstGeom prst="rect">
            <a:avLst/>
          </a:prstGeom>
        </p:spPr>
      </p:pic>
      <p:sp>
        <p:nvSpPr>
          <p:cNvPr id="8" name="Rectangle: Rounded Corners 7">
            <a:extLst>
              <a:ext uri="{FF2B5EF4-FFF2-40B4-BE49-F238E27FC236}">
                <a16:creationId xmlns:a16="http://schemas.microsoft.com/office/drawing/2014/main" id="{B9C5B3CD-A2C6-BA37-2075-853A91EA7F48}"/>
              </a:ext>
            </a:extLst>
          </p:cNvPr>
          <p:cNvSpPr/>
          <p:nvPr/>
        </p:nvSpPr>
        <p:spPr>
          <a:xfrm>
            <a:off x="747132" y="0"/>
            <a:ext cx="10571357" cy="568712"/>
          </a:xfrm>
          <a:prstGeom prst="roundRect">
            <a:avLst>
              <a:gd name="adj" fmla="val 50000"/>
            </a:avLst>
          </a:prstGeom>
          <a:ln>
            <a:headEnd type="none" w="med" len="med"/>
            <a:tailEnd type="none" w="med" len="med"/>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3200" dirty="0">
                <a:solidFill>
                  <a:schemeClr val="tx2">
                    <a:lumMod val="90000"/>
                    <a:lumOff val="10000"/>
                  </a:schemeClr>
                </a:solidFill>
              </a:rPr>
              <a:t>Smart Supply Chain: Delivery Performance Analysis</a:t>
            </a:r>
          </a:p>
        </p:txBody>
      </p:sp>
      <p:sp>
        <p:nvSpPr>
          <p:cNvPr id="12" name="TextBox 11">
            <a:extLst>
              <a:ext uri="{FF2B5EF4-FFF2-40B4-BE49-F238E27FC236}">
                <a16:creationId xmlns:a16="http://schemas.microsoft.com/office/drawing/2014/main" id="{15328F44-5015-C4C5-D488-C1B11E9B2BEB}"/>
              </a:ext>
            </a:extLst>
          </p:cNvPr>
          <p:cNvSpPr txBox="1"/>
          <p:nvPr/>
        </p:nvSpPr>
        <p:spPr>
          <a:xfrm>
            <a:off x="2781610" y="644472"/>
            <a:ext cx="6502400"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400" dirty="0"/>
              <a:t>The Challenge: Bottlenecks in the Supply Chain</a:t>
            </a:r>
          </a:p>
        </p:txBody>
      </p:sp>
      <p:graphicFrame>
        <p:nvGraphicFramePr>
          <p:cNvPr id="14" name="Diagram 13">
            <a:extLst>
              <a:ext uri="{FF2B5EF4-FFF2-40B4-BE49-F238E27FC236}">
                <a16:creationId xmlns:a16="http://schemas.microsoft.com/office/drawing/2014/main" id="{5ECBE394-9743-D824-A567-36CCEC7F00F3}"/>
              </a:ext>
            </a:extLst>
          </p:cNvPr>
          <p:cNvGraphicFramePr/>
          <p:nvPr>
            <p:extLst>
              <p:ext uri="{D42A27DB-BD31-4B8C-83A1-F6EECF244321}">
                <p14:modId xmlns:p14="http://schemas.microsoft.com/office/powerpoint/2010/main" val="3787575583"/>
              </p:ext>
            </p:extLst>
          </p:nvPr>
        </p:nvGraphicFramePr>
        <p:xfrm>
          <a:off x="0" y="3331425"/>
          <a:ext cx="8089900" cy="34163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55243828"/>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room with a large screen with a large brain and many images on the wall&#10;&#10;AI-generated content may be incorrect.">
            <a:extLst>
              <a:ext uri="{FF2B5EF4-FFF2-40B4-BE49-F238E27FC236}">
                <a16:creationId xmlns:a16="http://schemas.microsoft.com/office/drawing/2014/main" id="{D4707E0E-62D4-473F-F031-BED9AEEA81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9" name="Diagram 8">
            <a:extLst>
              <a:ext uri="{FF2B5EF4-FFF2-40B4-BE49-F238E27FC236}">
                <a16:creationId xmlns:a16="http://schemas.microsoft.com/office/drawing/2014/main" id="{5C4B0BAF-DA7D-C301-987F-DC5177F44730}"/>
              </a:ext>
            </a:extLst>
          </p:cNvPr>
          <p:cNvGraphicFramePr/>
          <p:nvPr>
            <p:extLst>
              <p:ext uri="{D42A27DB-BD31-4B8C-83A1-F6EECF244321}">
                <p14:modId xmlns:p14="http://schemas.microsoft.com/office/powerpoint/2010/main" val="3818302694"/>
              </p:ext>
            </p:extLst>
          </p:nvPr>
        </p:nvGraphicFramePr>
        <p:xfrm>
          <a:off x="0" y="0"/>
          <a:ext cx="3733800" cy="10772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B4F7123E-3833-A99C-8063-328C3D42D021}"/>
              </a:ext>
            </a:extLst>
          </p:cNvPr>
          <p:cNvGraphicFramePr/>
          <p:nvPr>
            <p:extLst>
              <p:ext uri="{D42A27DB-BD31-4B8C-83A1-F6EECF244321}">
                <p14:modId xmlns:p14="http://schemas.microsoft.com/office/powerpoint/2010/main" val="2525369023"/>
              </p:ext>
            </p:extLst>
          </p:nvPr>
        </p:nvGraphicFramePr>
        <p:xfrm>
          <a:off x="1168400" y="4415404"/>
          <a:ext cx="10325100" cy="203132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5" name="Rectangle: Rounded Corners 24">
            <a:extLst>
              <a:ext uri="{FF2B5EF4-FFF2-40B4-BE49-F238E27FC236}">
                <a16:creationId xmlns:a16="http://schemas.microsoft.com/office/drawing/2014/main" id="{9AE386FF-E994-0BAD-88F4-2985912CE20E}"/>
              </a:ext>
            </a:extLst>
          </p:cNvPr>
          <p:cNvSpPr/>
          <p:nvPr/>
        </p:nvSpPr>
        <p:spPr>
          <a:xfrm>
            <a:off x="12570832" y="0"/>
            <a:ext cx="10571357" cy="568712"/>
          </a:xfrm>
          <a:prstGeom prst="roundRect">
            <a:avLst>
              <a:gd name="adj" fmla="val 50000"/>
            </a:avLst>
          </a:prstGeom>
          <a:ln>
            <a:headEnd type="none" w="med" len="med"/>
            <a:tailEnd type="none" w="med" len="med"/>
          </a:ln>
        </p:spPr>
        <p:style>
          <a:lnRef idx="3">
            <a:schemeClr val="lt1"/>
          </a:lnRef>
          <a:fillRef idx="1">
            <a:schemeClr val="accent4"/>
          </a:fillRef>
          <a:effectRef idx="1">
            <a:schemeClr val="accent4"/>
          </a:effectRef>
          <a:fontRef idx="minor">
            <a:schemeClr val="lt1"/>
          </a:fontRef>
        </p:style>
        <p:txBody>
          <a:bodyPr rtlCol="0" anchor="ctr"/>
          <a:lstStyle/>
          <a:p>
            <a:pPr algn="ctr"/>
            <a:r>
              <a:rPr lang="en-US" sz="3200" dirty="0">
                <a:solidFill>
                  <a:schemeClr val="tx2">
                    <a:lumMod val="90000"/>
                    <a:lumOff val="10000"/>
                  </a:schemeClr>
                </a:solidFill>
              </a:rPr>
              <a:t>Smart Supply Chain: Delivery Performance Analysis</a:t>
            </a:r>
          </a:p>
        </p:txBody>
      </p:sp>
      <p:sp>
        <p:nvSpPr>
          <p:cNvPr id="26" name="TextBox 25">
            <a:extLst>
              <a:ext uri="{FF2B5EF4-FFF2-40B4-BE49-F238E27FC236}">
                <a16:creationId xmlns:a16="http://schemas.microsoft.com/office/drawing/2014/main" id="{46A83343-A365-C6E2-4A57-9FE113CE1186}"/>
              </a:ext>
            </a:extLst>
          </p:cNvPr>
          <p:cNvSpPr txBox="1"/>
          <p:nvPr/>
        </p:nvSpPr>
        <p:spPr>
          <a:xfrm>
            <a:off x="14605310" y="644472"/>
            <a:ext cx="6502400" cy="461665"/>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US" sz="2400" dirty="0"/>
              <a:t>The Challenge: Bottlenecks in the Supply Chain</a:t>
            </a:r>
          </a:p>
        </p:txBody>
      </p:sp>
      <p:graphicFrame>
        <p:nvGraphicFramePr>
          <p:cNvPr id="27" name="Diagram 26">
            <a:extLst>
              <a:ext uri="{FF2B5EF4-FFF2-40B4-BE49-F238E27FC236}">
                <a16:creationId xmlns:a16="http://schemas.microsoft.com/office/drawing/2014/main" id="{6C830446-B146-2552-59D5-BE8B992837DE}"/>
              </a:ext>
            </a:extLst>
          </p:cNvPr>
          <p:cNvGraphicFramePr/>
          <p:nvPr>
            <p:extLst>
              <p:ext uri="{D42A27DB-BD31-4B8C-83A1-F6EECF244321}">
                <p14:modId xmlns:p14="http://schemas.microsoft.com/office/powerpoint/2010/main" val="3229831845"/>
              </p:ext>
            </p:extLst>
          </p:nvPr>
        </p:nvGraphicFramePr>
        <p:xfrm>
          <a:off x="0" y="7141425"/>
          <a:ext cx="8089900" cy="341632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pic>
        <p:nvPicPr>
          <p:cNvPr id="37" name="Picture 36" descr="A computer screen shot of a computer screen&#10;&#10;AI-generated content may be incorrect.">
            <a:extLst>
              <a:ext uri="{FF2B5EF4-FFF2-40B4-BE49-F238E27FC236}">
                <a16:creationId xmlns:a16="http://schemas.microsoft.com/office/drawing/2014/main" id="{9CCB97ED-91A9-6D7C-C0C0-95AEB90C359C}"/>
              </a:ext>
            </a:extLst>
          </p:cNvPr>
          <p:cNvPicPr>
            <a:picLocks noChangeAspect="1"/>
          </p:cNvPicPr>
          <p:nvPr/>
        </p:nvPicPr>
        <p:blipFill>
          <a:blip r:embed="rId18">
            <a:extLst>
              <a:ext uri="{28A0092B-C50C-407E-A947-70E740481C1C}">
                <a14:useLocalDpi xmlns:a14="http://schemas.microsoft.com/office/drawing/2010/main" val="0"/>
              </a:ext>
            </a:extLst>
          </a:blip>
          <a:srcRect b="5262"/>
          <a:stretch/>
        </p:blipFill>
        <p:spPr>
          <a:xfrm>
            <a:off x="-63867" y="360862"/>
            <a:ext cx="12192000" cy="6497138"/>
          </a:xfrm>
          <a:prstGeom prst="rect">
            <a:avLst/>
          </a:prstGeom>
        </p:spPr>
      </p:pic>
      <p:pic>
        <p:nvPicPr>
          <p:cNvPr id="29" name="Picture 28" descr="A computer screen shot of a computer screen&#10;&#10;AI-generated content may be incorrect.">
            <a:extLst>
              <a:ext uri="{FF2B5EF4-FFF2-40B4-BE49-F238E27FC236}">
                <a16:creationId xmlns:a16="http://schemas.microsoft.com/office/drawing/2014/main" id="{513EA084-E384-28C1-79B4-412B42430E23}"/>
              </a:ext>
            </a:extLst>
          </p:cNvPr>
          <p:cNvPicPr>
            <a:picLocks noChangeAspect="1"/>
          </p:cNvPicPr>
          <p:nvPr/>
        </p:nvPicPr>
        <p:blipFill>
          <a:blip r:embed="rId19">
            <a:extLst>
              <a:ext uri="{28A0092B-C50C-407E-A947-70E740481C1C}">
                <a14:useLocalDpi xmlns:a14="http://schemas.microsoft.com/office/drawing/2010/main" val="0"/>
              </a:ext>
            </a:extLst>
          </a:blip>
          <a:srcRect b="6561"/>
          <a:stretch/>
        </p:blipFill>
        <p:spPr>
          <a:xfrm>
            <a:off x="31934" y="411271"/>
            <a:ext cx="12192000" cy="6408000"/>
          </a:xfrm>
          <a:prstGeom prst="rect">
            <a:avLst/>
          </a:prstGeom>
        </p:spPr>
      </p:pic>
      <p:pic>
        <p:nvPicPr>
          <p:cNvPr id="35" name="Picture 34" descr="A computer screen shot of a computer screen&#10;&#10;AI-generated content may be incorrect.">
            <a:extLst>
              <a:ext uri="{FF2B5EF4-FFF2-40B4-BE49-F238E27FC236}">
                <a16:creationId xmlns:a16="http://schemas.microsoft.com/office/drawing/2014/main" id="{606DF187-8E79-B5DF-7E29-811AF7CEC144}"/>
              </a:ext>
            </a:extLst>
          </p:cNvPr>
          <p:cNvPicPr>
            <a:picLocks noChangeAspect="1"/>
          </p:cNvPicPr>
          <p:nvPr/>
        </p:nvPicPr>
        <p:blipFill>
          <a:blip r:embed="rId20">
            <a:extLst>
              <a:ext uri="{28A0092B-C50C-407E-A947-70E740481C1C}">
                <a14:useLocalDpi xmlns:a14="http://schemas.microsoft.com/office/drawing/2010/main" val="0"/>
              </a:ext>
            </a:extLst>
          </a:blip>
          <a:srcRect b="6561"/>
          <a:stretch/>
        </p:blipFill>
        <p:spPr>
          <a:xfrm>
            <a:off x="0" y="461680"/>
            <a:ext cx="12192000" cy="6408000"/>
          </a:xfrm>
          <a:prstGeom prst="rect">
            <a:avLst/>
          </a:prstGeom>
        </p:spPr>
      </p:pic>
      <p:pic>
        <p:nvPicPr>
          <p:cNvPr id="33" name="Picture 32" descr="A computer screen with a white screen&#10;&#10;AI-generated content may be incorrect.">
            <a:extLst>
              <a:ext uri="{FF2B5EF4-FFF2-40B4-BE49-F238E27FC236}">
                <a16:creationId xmlns:a16="http://schemas.microsoft.com/office/drawing/2014/main" id="{27379F79-E190-AF73-9354-31F363562AF2}"/>
              </a:ext>
            </a:extLst>
          </p:cNvPr>
          <p:cNvPicPr>
            <a:picLocks noChangeAspect="1"/>
          </p:cNvPicPr>
          <p:nvPr/>
        </p:nvPicPr>
        <p:blipFill>
          <a:blip r:embed="rId21">
            <a:extLst>
              <a:ext uri="{28A0092B-C50C-407E-A947-70E740481C1C}">
                <a14:useLocalDpi xmlns:a14="http://schemas.microsoft.com/office/drawing/2010/main" val="0"/>
              </a:ext>
            </a:extLst>
          </a:blip>
          <a:srcRect b="5671"/>
          <a:stretch/>
        </p:blipFill>
        <p:spPr>
          <a:xfrm>
            <a:off x="-31934" y="349182"/>
            <a:ext cx="12192000" cy="6469100"/>
          </a:xfrm>
          <a:prstGeom prst="rect">
            <a:avLst/>
          </a:prstGeom>
        </p:spPr>
      </p:pic>
    </p:spTree>
    <p:extLst>
      <p:ext uri="{BB962C8B-B14F-4D97-AF65-F5344CB8AC3E}">
        <p14:creationId xmlns:p14="http://schemas.microsoft.com/office/powerpoint/2010/main" val="73548233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25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50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
                                        </p:tgtEl>
                                        <p:attrNameLst>
                                          <p:attrName>style.visibility</p:attrName>
                                        </p:attrNameLst>
                                      </p:cBhvr>
                                      <p:to>
                                        <p:strVal val="visible"/>
                                      </p:to>
                                    </p:set>
                                    <p:anim calcmode="lin" valueType="num">
                                      <p:cBhvr additive="base">
                                        <p:cTn id="13" dur="500" fill="hold"/>
                                        <p:tgtEl>
                                          <p:spTgt spid="37"/>
                                        </p:tgtEl>
                                        <p:attrNameLst>
                                          <p:attrName>ppt_x</p:attrName>
                                        </p:attrNameLst>
                                      </p:cBhvr>
                                      <p:tavLst>
                                        <p:tav tm="0">
                                          <p:val>
                                            <p:strVal val="#ppt_x"/>
                                          </p:val>
                                        </p:tav>
                                        <p:tav tm="100000">
                                          <p:val>
                                            <p:strVal val="#ppt_x"/>
                                          </p:val>
                                        </p:tav>
                                      </p:tavLst>
                                    </p:anim>
                                    <p:anim calcmode="lin" valueType="num">
                                      <p:cBhvr additive="base">
                                        <p:cTn id="1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additive="base">
                                        <p:cTn id="19" dur="500" fill="hold"/>
                                        <p:tgtEl>
                                          <p:spTgt spid="29"/>
                                        </p:tgtEl>
                                        <p:attrNameLst>
                                          <p:attrName>ppt_x</p:attrName>
                                        </p:attrNameLst>
                                      </p:cBhvr>
                                      <p:tavLst>
                                        <p:tav tm="0">
                                          <p:val>
                                            <p:strVal val="#ppt_x"/>
                                          </p:val>
                                        </p:tav>
                                        <p:tav tm="100000">
                                          <p:val>
                                            <p:strVal val="#ppt_x"/>
                                          </p:val>
                                        </p:tav>
                                      </p:tavLst>
                                    </p:anim>
                                    <p:anim calcmode="lin" valueType="num">
                                      <p:cBhvr additive="base">
                                        <p:cTn id="20"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gtEl>
                                        <p:attrNameLst>
                                          <p:attrName>style.visibility</p:attrName>
                                        </p:attrNameLst>
                                      </p:cBhvr>
                                      <p:to>
                                        <p:strVal val="visible"/>
                                      </p:to>
                                    </p:set>
                                    <p:anim calcmode="lin" valueType="num">
                                      <p:cBhvr additive="base">
                                        <p:cTn id="25" dur="500" fill="hold"/>
                                        <p:tgtEl>
                                          <p:spTgt spid="35"/>
                                        </p:tgtEl>
                                        <p:attrNameLst>
                                          <p:attrName>ppt_x</p:attrName>
                                        </p:attrNameLst>
                                      </p:cBhvr>
                                      <p:tavLst>
                                        <p:tav tm="0">
                                          <p:val>
                                            <p:strVal val="#ppt_x"/>
                                          </p:val>
                                        </p:tav>
                                        <p:tav tm="100000">
                                          <p:val>
                                            <p:strVal val="#ppt_x"/>
                                          </p:val>
                                        </p:tav>
                                      </p:tavLst>
                                    </p:anim>
                                    <p:anim calcmode="lin" valueType="num">
                                      <p:cBhvr additive="base">
                                        <p:cTn id="26"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3"/>
                                        </p:tgtEl>
                                        <p:attrNameLst>
                                          <p:attrName>style.visibility</p:attrName>
                                        </p:attrNameLst>
                                      </p:cBhvr>
                                      <p:to>
                                        <p:strVal val="visible"/>
                                      </p:to>
                                    </p:set>
                                    <p:anim calcmode="lin" valueType="num">
                                      <p:cBhvr additive="base">
                                        <p:cTn id="31" dur="500" fill="hold"/>
                                        <p:tgtEl>
                                          <p:spTgt spid="33"/>
                                        </p:tgtEl>
                                        <p:attrNameLst>
                                          <p:attrName>ppt_x</p:attrName>
                                        </p:attrNameLst>
                                      </p:cBhvr>
                                      <p:tavLst>
                                        <p:tav tm="0">
                                          <p:val>
                                            <p:strVal val="#ppt_x"/>
                                          </p:val>
                                        </p:tav>
                                        <p:tav tm="100000">
                                          <p:val>
                                            <p:strVal val="#ppt_x"/>
                                          </p:val>
                                        </p:tav>
                                      </p:tavLst>
                                    </p:anim>
                                    <p:anim calcmode="lin" valueType="num">
                                      <p:cBhvr additive="base">
                                        <p:cTn id="32"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FB05BDE5-8CAE-2538-C99A-74E09DADE0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Rounded Corners 9">
            <a:extLst>
              <a:ext uri="{FF2B5EF4-FFF2-40B4-BE49-F238E27FC236}">
                <a16:creationId xmlns:a16="http://schemas.microsoft.com/office/drawing/2014/main" id="{F86BE58B-327C-F47B-C23D-F790AA1A92D2}"/>
              </a:ext>
            </a:extLst>
          </p:cNvPr>
          <p:cNvSpPr/>
          <p:nvPr/>
        </p:nvSpPr>
        <p:spPr>
          <a:xfrm>
            <a:off x="3409950" y="57150"/>
            <a:ext cx="8686800" cy="6743700"/>
          </a:xfrm>
          <a:prstGeom prst="roundRect">
            <a:avLst>
              <a:gd name="adj" fmla="val 4991"/>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a:extLst>
              <a:ext uri="{FF2B5EF4-FFF2-40B4-BE49-F238E27FC236}">
                <a16:creationId xmlns:a16="http://schemas.microsoft.com/office/drawing/2014/main" id="{588C14E5-A2E6-D4C6-D3B1-C4573FDD617A}"/>
              </a:ext>
            </a:extLst>
          </p:cNvPr>
          <p:cNvGraphicFramePr/>
          <p:nvPr>
            <p:extLst>
              <p:ext uri="{D42A27DB-BD31-4B8C-83A1-F6EECF244321}">
                <p14:modId xmlns:p14="http://schemas.microsoft.com/office/powerpoint/2010/main" val="1208576295"/>
              </p:ext>
            </p:extLst>
          </p:nvPr>
        </p:nvGraphicFramePr>
        <p:xfrm>
          <a:off x="8763000" y="647700"/>
          <a:ext cx="3263900" cy="6463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 name="Diagram 8">
            <a:extLst>
              <a:ext uri="{FF2B5EF4-FFF2-40B4-BE49-F238E27FC236}">
                <a16:creationId xmlns:a16="http://schemas.microsoft.com/office/drawing/2014/main" id="{2302337F-7026-FB06-6B29-FB1D8672C94B}"/>
              </a:ext>
            </a:extLst>
          </p:cNvPr>
          <p:cNvGraphicFramePr/>
          <p:nvPr>
            <p:extLst>
              <p:ext uri="{D42A27DB-BD31-4B8C-83A1-F6EECF244321}">
                <p14:modId xmlns:p14="http://schemas.microsoft.com/office/powerpoint/2010/main" val="3590708682"/>
              </p:ext>
            </p:extLst>
          </p:nvPr>
        </p:nvGraphicFramePr>
        <p:xfrm>
          <a:off x="165100" y="127000"/>
          <a:ext cx="14566900" cy="6604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0067102"/>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25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additive="base">
                                        <p:cTn id="14" dur="500" fill="hold"/>
                                        <p:tgtEl>
                                          <p:spTgt spid="9"/>
                                        </p:tgtEl>
                                        <p:attrNameLst>
                                          <p:attrName>ppt_x</p:attrName>
                                        </p:attrNameLst>
                                      </p:cBhvr>
                                      <p:tavLst>
                                        <p:tav tm="0">
                                          <p:val>
                                            <p:strVal val="#ppt_x"/>
                                          </p:val>
                                        </p:tav>
                                        <p:tav tm="100000">
                                          <p:val>
                                            <p:strVal val="#ppt_x"/>
                                          </p:val>
                                        </p:tav>
                                      </p:tavLst>
                                    </p:anim>
                                    <p:anim calcmode="lin" valueType="num">
                                      <p:cBhvr additive="base">
                                        <p:cTn id="15" dur="500" fill="hold"/>
                                        <p:tgtEl>
                                          <p:spTgt spid="9"/>
                                        </p:tgtEl>
                                        <p:attrNameLst>
                                          <p:attrName>ppt_y</p:attrName>
                                        </p:attrNameLst>
                                      </p:cBhvr>
                                      <p:tavLst>
                                        <p:tav tm="0">
                                          <p:val>
                                            <p:strVal val="1+#ppt_h/2"/>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anim calcmode="lin" valueType="num">
                                      <p:cBhvr>
                                        <p:cTn id="19" dur="500" fill="hold"/>
                                        <p:tgtEl>
                                          <p:spTgt spid="10"/>
                                        </p:tgtEl>
                                        <p:attrNameLst>
                                          <p:attrName>ppt_x</p:attrName>
                                        </p:attrNameLst>
                                      </p:cBhvr>
                                      <p:tavLst>
                                        <p:tav tm="0">
                                          <p:val>
                                            <p:strVal val="#ppt_x"/>
                                          </p:val>
                                        </p:tav>
                                        <p:tav tm="100000">
                                          <p:val>
                                            <p:strVal val="#ppt_x"/>
                                          </p:val>
                                        </p:tav>
                                      </p:tavLst>
                                    </p:anim>
                                    <p:anim calcmode="lin" valueType="num">
                                      <p:cBhvr>
                                        <p:cTn id="20" dur="5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7" grpId="0">
        <p:bldAsOne/>
      </p:bldGraphic>
      <p:bldGraphic spid="9"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halkboard with text and graphics&#10;&#10;AI-generated content may be incorrect.">
            <a:extLst>
              <a:ext uri="{FF2B5EF4-FFF2-40B4-BE49-F238E27FC236}">
                <a16:creationId xmlns:a16="http://schemas.microsoft.com/office/drawing/2014/main" id="{FA4DB175-6703-7266-F6A7-7B424A228A4B}"/>
              </a:ext>
            </a:extLst>
          </p:cNvPr>
          <p:cNvPicPr>
            <a:picLocks noChangeAspect="1"/>
          </p:cNvPicPr>
          <p:nvPr/>
        </p:nvPicPr>
        <p:blipFill>
          <a:blip r:embed="rId2">
            <a:extLst>
              <a:ext uri="{28A0092B-C50C-407E-A947-70E740481C1C}">
                <a14:useLocalDpi xmlns:a14="http://schemas.microsoft.com/office/drawing/2010/main" val="0"/>
              </a:ext>
            </a:extLst>
          </a:blip>
          <a:srcRect t="3645" b="2605"/>
          <a:stretch/>
        </p:blipFill>
        <p:spPr>
          <a:xfrm>
            <a:off x="0" y="0"/>
            <a:ext cx="12192000" cy="6858000"/>
          </a:xfrm>
          <a:prstGeom prst="rect">
            <a:avLst/>
          </a:prstGeom>
        </p:spPr>
      </p:pic>
      <p:sp>
        <p:nvSpPr>
          <p:cNvPr id="15" name="Rectangle: Rounded Corners 14">
            <a:extLst>
              <a:ext uri="{FF2B5EF4-FFF2-40B4-BE49-F238E27FC236}">
                <a16:creationId xmlns:a16="http://schemas.microsoft.com/office/drawing/2014/main" id="{92EDF56B-A3AF-4363-A8A8-9D9EFCB72373}"/>
              </a:ext>
            </a:extLst>
          </p:cNvPr>
          <p:cNvSpPr/>
          <p:nvPr/>
        </p:nvSpPr>
        <p:spPr>
          <a:xfrm>
            <a:off x="3365500" y="0"/>
            <a:ext cx="5537200" cy="523220"/>
          </a:xfrm>
          <a:prstGeom prst="roundRect">
            <a:avLst/>
          </a:prstGeom>
          <a:solidFill>
            <a:srgbClr val="3F2A1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Action Plan &amp; Recommendations</a:t>
            </a:r>
          </a:p>
        </p:txBody>
      </p:sp>
      <p:graphicFrame>
        <p:nvGraphicFramePr>
          <p:cNvPr id="20" name="Diagram 19">
            <a:extLst>
              <a:ext uri="{FF2B5EF4-FFF2-40B4-BE49-F238E27FC236}">
                <a16:creationId xmlns:a16="http://schemas.microsoft.com/office/drawing/2014/main" id="{CE8696CF-52CD-7A18-4D50-B2A31068B5F6}"/>
              </a:ext>
            </a:extLst>
          </p:cNvPr>
          <p:cNvGraphicFramePr/>
          <p:nvPr>
            <p:extLst>
              <p:ext uri="{D42A27DB-BD31-4B8C-83A1-F6EECF244321}">
                <p14:modId xmlns:p14="http://schemas.microsoft.com/office/powerpoint/2010/main" val="4133832613"/>
              </p:ext>
            </p:extLst>
          </p:nvPr>
        </p:nvGraphicFramePr>
        <p:xfrm>
          <a:off x="-2628900" y="261610"/>
          <a:ext cx="8623300" cy="41267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1" name="Diagram 20">
            <a:extLst>
              <a:ext uri="{FF2B5EF4-FFF2-40B4-BE49-F238E27FC236}">
                <a16:creationId xmlns:a16="http://schemas.microsoft.com/office/drawing/2014/main" id="{17F79ADD-370D-68EF-CE69-E6122E0611A8}"/>
              </a:ext>
            </a:extLst>
          </p:cNvPr>
          <p:cNvGraphicFramePr/>
          <p:nvPr>
            <p:extLst>
              <p:ext uri="{D42A27DB-BD31-4B8C-83A1-F6EECF244321}">
                <p14:modId xmlns:p14="http://schemas.microsoft.com/office/powerpoint/2010/main" val="650240688"/>
              </p:ext>
            </p:extLst>
          </p:nvPr>
        </p:nvGraphicFramePr>
        <p:xfrm>
          <a:off x="6819900" y="261610"/>
          <a:ext cx="7747000" cy="49149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2" name="Diagram 21">
            <a:extLst>
              <a:ext uri="{FF2B5EF4-FFF2-40B4-BE49-F238E27FC236}">
                <a16:creationId xmlns:a16="http://schemas.microsoft.com/office/drawing/2014/main" id="{6A4691C6-1C0D-9845-B632-2087AEFC54BF}"/>
              </a:ext>
            </a:extLst>
          </p:cNvPr>
          <p:cNvGraphicFramePr/>
          <p:nvPr>
            <p:extLst>
              <p:ext uri="{D42A27DB-BD31-4B8C-83A1-F6EECF244321}">
                <p14:modId xmlns:p14="http://schemas.microsoft.com/office/powerpoint/2010/main" val="742310235"/>
              </p:ext>
            </p:extLst>
          </p:nvPr>
        </p:nvGraphicFramePr>
        <p:xfrm>
          <a:off x="1447802" y="2247989"/>
          <a:ext cx="9499600" cy="518493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537073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500"/>
                                        <p:tgtEl>
                                          <p:spTgt spid="20"/>
                                        </p:tgtEl>
                                      </p:cBhvr>
                                    </p:animEffect>
                                    <p:anim calcmode="lin" valueType="num">
                                      <p:cBhvr>
                                        <p:cTn id="15" dur="500" fill="hold"/>
                                        <p:tgtEl>
                                          <p:spTgt spid="20"/>
                                        </p:tgtEl>
                                        <p:attrNameLst>
                                          <p:attrName>ppt_x</p:attrName>
                                        </p:attrNameLst>
                                      </p:cBhvr>
                                      <p:tavLst>
                                        <p:tav tm="0">
                                          <p:val>
                                            <p:strVal val="#ppt_x"/>
                                          </p:val>
                                        </p:tav>
                                        <p:tav tm="100000">
                                          <p:val>
                                            <p:strVal val="#ppt_x"/>
                                          </p:val>
                                        </p:tav>
                                      </p:tavLst>
                                    </p:anim>
                                    <p:anim calcmode="lin" valueType="num">
                                      <p:cBhvr>
                                        <p:cTn id="16"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500"/>
                                        <p:tgtEl>
                                          <p:spTgt spid="21"/>
                                        </p:tgtEl>
                                      </p:cBhvr>
                                    </p:animEffect>
                                    <p:anim calcmode="lin" valueType="num">
                                      <p:cBhvr>
                                        <p:cTn id="22" dur="500" fill="hold"/>
                                        <p:tgtEl>
                                          <p:spTgt spid="21"/>
                                        </p:tgtEl>
                                        <p:attrNameLst>
                                          <p:attrName>ppt_x</p:attrName>
                                        </p:attrNameLst>
                                      </p:cBhvr>
                                      <p:tavLst>
                                        <p:tav tm="0">
                                          <p:val>
                                            <p:strVal val="#ppt_x"/>
                                          </p:val>
                                        </p:tav>
                                        <p:tav tm="100000">
                                          <p:val>
                                            <p:strVal val="#ppt_x"/>
                                          </p:val>
                                        </p:tav>
                                      </p:tavLst>
                                    </p:anim>
                                    <p:anim calcmode="lin" valueType="num">
                                      <p:cBhvr>
                                        <p:cTn id="23" dur="5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anim calcmode="lin" valueType="num">
                                      <p:cBhvr>
                                        <p:cTn id="29" dur="500" fill="hold"/>
                                        <p:tgtEl>
                                          <p:spTgt spid="22"/>
                                        </p:tgtEl>
                                        <p:attrNameLst>
                                          <p:attrName>ppt_x</p:attrName>
                                        </p:attrNameLst>
                                      </p:cBhvr>
                                      <p:tavLst>
                                        <p:tav tm="0">
                                          <p:val>
                                            <p:strVal val="#ppt_x"/>
                                          </p:val>
                                        </p:tav>
                                        <p:tav tm="100000">
                                          <p:val>
                                            <p:strVal val="#ppt_x"/>
                                          </p:val>
                                        </p:tav>
                                      </p:tavLst>
                                    </p:anim>
                                    <p:anim calcmode="lin" valueType="num">
                                      <p:cBhvr>
                                        <p:cTn id="30"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Graphic spid="20" grpId="0">
        <p:bldAsOne/>
      </p:bldGraphic>
      <p:bldGraphic spid="21" grpId="0">
        <p:bldAsOne/>
      </p:bldGraphic>
      <p:bldGraphic spid="22"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model of a truck on a map&#10;&#10;AI-generated content may be incorrect.">
            <a:extLst>
              <a:ext uri="{FF2B5EF4-FFF2-40B4-BE49-F238E27FC236}">
                <a16:creationId xmlns:a16="http://schemas.microsoft.com/office/drawing/2014/main" id="{B87BCC4F-DA01-6C61-CAF9-CE934B636C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3" name="Oval 12">
            <a:extLst>
              <a:ext uri="{FF2B5EF4-FFF2-40B4-BE49-F238E27FC236}">
                <a16:creationId xmlns:a16="http://schemas.microsoft.com/office/drawing/2014/main" id="{D50AA2E4-270B-D696-C09A-BDC5B40CB7CA}"/>
              </a:ext>
            </a:extLst>
          </p:cNvPr>
          <p:cNvSpPr/>
          <p:nvPr/>
        </p:nvSpPr>
        <p:spPr>
          <a:xfrm>
            <a:off x="4127500" y="107722"/>
            <a:ext cx="3263900" cy="983397"/>
          </a:xfrm>
          <a:prstGeom prst="ellipse">
            <a:avLst/>
          </a:prstGeom>
          <a:solidFill>
            <a:srgbClr val="3F2A1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3337C980-967A-840F-2774-2D590D2BE918}"/>
              </a:ext>
            </a:extLst>
          </p:cNvPr>
          <p:cNvSpPr txBox="1"/>
          <p:nvPr/>
        </p:nvSpPr>
        <p:spPr>
          <a:xfrm>
            <a:off x="4343400" y="152400"/>
            <a:ext cx="3048000" cy="830997"/>
          </a:xfrm>
          <a:prstGeom prst="rect">
            <a:avLst/>
          </a:prstGeom>
          <a:noFill/>
        </p:spPr>
        <p:txBody>
          <a:bodyPr wrap="square" rtlCol="0">
            <a:spAutoFit/>
          </a:bodyPr>
          <a:lstStyle/>
          <a:p>
            <a:r>
              <a:rPr lang="en-US" sz="4800" b="1" dirty="0">
                <a:solidFill>
                  <a:schemeClr val="bg1"/>
                </a:solidFill>
                <a:effectLst>
                  <a:outerShdw blurRad="38100" dist="38100" dir="2700000" algn="tl">
                    <a:srgbClr val="000000">
                      <a:alpha val="43137"/>
                    </a:srgbClr>
                  </a:outerShdw>
                </a:effectLst>
              </a:rPr>
              <a:t>Thank you </a:t>
            </a:r>
          </a:p>
        </p:txBody>
      </p:sp>
      <p:sp>
        <p:nvSpPr>
          <p:cNvPr id="14" name="Rectangle: Rounded Corners 13">
            <a:extLst>
              <a:ext uri="{FF2B5EF4-FFF2-40B4-BE49-F238E27FC236}">
                <a16:creationId xmlns:a16="http://schemas.microsoft.com/office/drawing/2014/main" id="{63C8CDB3-3633-E771-2BDF-A095600FEF0F}"/>
              </a:ext>
            </a:extLst>
          </p:cNvPr>
          <p:cNvSpPr/>
          <p:nvPr/>
        </p:nvSpPr>
        <p:spPr>
          <a:xfrm>
            <a:off x="863600" y="1140838"/>
            <a:ext cx="10255250" cy="478542"/>
          </a:xfrm>
          <a:prstGeom prst="roundRect">
            <a:avLst/>
          </a:prstGeom>
          <a:solidFill>
            <a:schemeClr val="accent2">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B222C01-2618-3D2C-5B23-28F06C1FE588}"/>
              </a:ext>
            </a:extLst>
          </p:cNvPr>
          <p:cNvSpPr txBox="1"/>
          <p:nvPr/>
        </p:nvSpPr>
        <p:spPr>
          <a:xfrm>
            <a:off x="968375" y="1085181"/>
            <a:ext cx="10255250" cy="523220"/>
          </a:xfrm>
          <a:prstGeom prst="rect">
            <a:avLst/>
          </a:prstGeom>
          <a:noFill/>
        </p:spPr>
        <p:txBody>
          <a:bodyPr wrap="square" rtlCol="0">
            <a:spAutoFit/>
          </a:bodyPr>
          <a:lstStyle/>
          <a:p>
            <a:r>
              <a:rPr lang="en-US" sz="2800" b="1" dirty="0">
                <a:solidFill>
                  <a:schemeClr val="bg1"/>
                </a:solidFill>
              </a:rPr>
              <a:t>Ready to transform raw data into strategic business solutions</a:t>
            </a:r>
          </a:p>
        </p:txBody>
      </p:sp>
      <p:sp>
        <p:nvSpPr>
          <p:cNvPr id="15" name="Rectangle: Rounded Corners 14">
            <a:extLst>
              <a:ext uri="{FF2B5EF4-FFF2-40B4-BE49-F238E27FC236}">
                <a16:creationId xmlns:a16="http://schemas.microsoft.com/office/drawing/2014/main" id="{9795E6B9-113D-66ED-A10F-532DAD07A194}"/>
              </a:ext>
            </a:extLst>
          </p:cNvPr>
          <p:cNvSpPr/>
          <p:nvPr/>
        </p:nvSpPr>
        <p:spPr>
          <a:xfrm>
            <a:off x="0" y="3289300"/>
            <a:ext cx="11582400" cy="444500"/>
          </a:xfrm>
          <a:prstGeom prst="round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CD0975E2-03E7-15D1-638F-8571966FB20F}"/>
              </a:ext>
            </a:extLst>
          </p:cNvPr>
          <p:cNvSpPr/>
          <p:nvPr/>
        </p:nvSpPr>
        <p:spPr>
          <a:xfrm>
            <a:off x="88900" y="4241800"/>
            <a:ext cx="10045700" cy="444500"/>
          </a:xfrm>
          <a:prstGeom prst="roundRect">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407D22C-884C-6964-DC4D-B37439EC8C78}"/>
              </a:ext>
            </a:extLst>
          </p:cNvPr>
          <p:cNvSpPr/>
          <p:nvPr/>
        </p:nvSpPr>
        <p:spPr>
          <a:xfrm>
            <a:off x="88900" y="5190936"/>
            <a:ext cx="7975600" cy="1018858"/>
          </a:xfrm>
          <a:prstGeom prst="roundRect">
            <a:avLst/>
          </a:prstGeom>
          <a:solidFill>
            <a:schemeClr val="accent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46CB71B-99C7-F53C-9024-B41C74DDC7CA}"/>
              </a:ext>
            </a:extLst>
          </p:cNvPr>
          <p:cNvSpPr txBox="1"/>
          <p:nvPr/>
        </p:nvSpPr>
        <p:spPr>
          <a:xfrm>
            <a:off x="0" y="3162806"/>
            <a:ext cx="12026900" cy="3046988"/>
          </a:xfrm>
          <a:prstGeom prst="rect">
            <a:avLst/>
          </a:prstGeom>
          <a:noFill/>
        </p:spPr>
        <p:txBody>
          <a:bodyPr wrap="square" rtlCol="0">
            <a:spAutoFit/>
          </a:bodyPr>
          <a:lstStyle/>
          <a:p>
            <a:r>
              <a:rPr lang="en-US" sz="2800" dirty="0"/>
              <a:t>Interactive Dashboard</a:t>
            </a:r>
            <a:r>
              <a:rPr lang="en-US" sz="3200" dirty="0"/>
              <a:t>:[</a:t>
            </a:r>
            <a:r>
              <a:rPr lang="en-US" sz="1100" dirty="0"/>
              <a:t>https://public.tableau.com/app/profile/hassan.ali3335/viz/SupplyChainDeliveryPerformanceAnalysis/Dashboard1?publish=ye</a:t>
            </a:r>
            <a:r>
              <a:rPr lang="en-US" sz="3200" dirty="0"/>
              <a:t>]</a:t>
            </a:r>
            <a:br>
              <a:rPr lang="en-US" sz="3200" dirty="0">
                <a:solidFill>
                  <a:schemeClr val="bg1"/>
                </a:solidFill>
              </a:rPr>
            </a:br>
            <a:endParaRPr lang="en-US" sz="3200" dirty="0">
              <a:solidFill>
                <a:schemeClr val="bg1"/>
              </a:solidFill>
            </a:endParaRPr>
          </a:p>
          <a:p>
            <a:r>
              <a:rPr lang="en-US" sz="2800" dirty="0"/>
              <a:t>SQL Code &amp; Documentation</a:t>
            </a:r>
            <a:r>
              <a:rPr lang="en-US" sz="3200" dirty="0"/>
              <a:t>: [</a:t>
            </a:r>
            <a:r>
              <a:rPr lang="en-US" sz="2400" dirty="0"/>
              <a:t>https://github.com/HassanAliHassanAli</a:t>
            </a:r>
            <a:r>
              <a:rPr lang="en-US" sz="3200" dirty="0"/>
              <a:t>]</a:t>
            </a:r>
            <a:br>
              <a:rPr lang="en-US" sz="3200" dirty="0"/>
            </a:br>
            <a:endParaRPr lang="en-US" sz="3200" dirty="0"/>
          </a:p>
          <a:p>
            <a:r>
              <a:rPr lang="en-US" sz="3200" dirty="0"/>
              <a:t>Let's Connect: [</a:t>
            </a:r>
            <a:r>
              <a:rPr lang="en-US" sz="2400" b="0" i="0" dirty="0">
                <a:effectLst/>
                <a:latin typeface="system-ui"/>
              </a:rPr>
              <a:t>www.linkedin.com/in/hassan-ali-ha2026</a:t>
            </a:r>
            <a:r>
              <a:rPr lang="en-US" sz="3200" dirty="0"/>
              <a:t>]</a:t>
            </a:r>
            <a:br>
              <a:rPr lang="en-US" sz="3200" dirty="0"/>
            </a:br>
            <a:r>
              <a:rPr lang="en-US" sz="3200" dirty="0"/>
              <a:t>my phone number: [+201119253497]</a:t>
            </a:r>
          </a:p>
        </p:txBody>
      </p:sp>
    </p:spTree>
    <p:extLst>
      <p:ext uri="{BB962C8B-B14F-4D97-AF65-F5344CB8AC3E}">
        <p14:creationId xmlns:p14="http://schemas.microsoft.com/office/powerpoint/2010/main" val="734064086"/>
      </p:ext>
    </p:extLst>
  </p:cSld>
  <p:clrMapOvr>
    <a:masterClrMapping/>
  </p:clrMapOvr>
  <p:transition spd="med">
    <p:blinds dir="ver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658</Words>
  <Application>Microsoft Office PowerPoint</Application>
  <PresentationFormat>Widescreen</PresentationFormat>
  <Paragraphs>29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system-ui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alı</dc:creator>
  <cp:lastModifiedBy>hassan alı</cp:lastModifiedBy>
  <cp:revision>1</cp:revision>
  <dcterms:created xsi:type="dcterms:W3CDTF">2026-03-12T19:57:19Z</dcterms:created>
  <dcterms:modified xsi:type="dcterms:W3CDTF">2026-03-12T19:57:29Z</dcterms:modified>
</cp:coreProperties>
</file>